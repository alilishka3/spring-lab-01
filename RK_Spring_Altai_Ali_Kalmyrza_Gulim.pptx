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38e3379-65e6-754b-45ac-e01a31406e6d}">
          <p14:sldIdLst>
            <p14:sldId id="256"/>
            <p14:sldId id="257"/>
          </p14:sldIdLst>
        </p14:section>
        <p14:section name="Lab 1" id="{b233bef8-40d5-8e65-d3d8-da3248334ac0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Lab 2" id="{d7e08256-4931-9c6d-85f3-e68f4dfbb6b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Lab 3" id="{0626ff51-54a4-c835-a587-ed3ceda8ffb7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Lab 4" id="{095af651-0dcb-6a9c-d03f-c8e688c7aa47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Lab 5" id="{0bca030d-a121-835f-e915-7a549131698d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Lab 6" id="{0881cb83-402c-6666-40ee-ef90608c39af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Lab 7" id="{771879ce-3f7a-56a1-47b7-d3a57e30e2f9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Final application" id="{86388d93-1904-5481-3d83-5a6855bdc8c2}">
          <p14:sldIdLst>
            <p14:sldId id="323"/>
            <p14:sldId id="324"/>
            <p14:sldId id="325"/>
            <p14:sldId id="326"/>
            <p14:sldId id="327"/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RWPSF 3305 midterm report — Altai Ali (IT1-2409IS), Kalmyrza Gulim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RWPSF 3305 — Web Application Development with Spring Framework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Lab Library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report: laboratory works 1–7 with results and answers, and the final web application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(pair work):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Altai Ali (IT1-2409IS), Kalmyrza Gulim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6B06105 Information Systems, year 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Yemberdiyeva Aknur, Senior Lector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github.com/Alilishka3/spring-lab-01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IITU, Almaty — October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2391156"/>
            <a:ext cx="480060" cy="2208276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3812" y="2391156"/>
            <a:ext cx="67208" cy="220827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250637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8247431" y="2679192"/>
            <a:ext cx="480060" cy="19202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0282" y="2679192"/>
            <a:ext cx="67208" cy="192024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431" y="279440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8813902" y="2247138"/>
            <a:ext cx="480060" cy="235229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26753" y="2247138"/>
            <a:ext cx="67208" cy="235229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13902" y="236235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380372" y="2535174"/>
            <a:ext cx="480060" cy="2064258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93224" y="2535174"/>
            <a:ext cx="67208" cy="206425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80372" y="265038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9946843" y="2343150"/>
            <a:ext cx="480060" cy="2256282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59695" y="2343150"/>
            <a:ext cx="67208" cy="2256282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46843" y="245836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0513314" y="2727198"/>
            <a:ext cx="480060" cy="187223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26166" y="2727198"/>
            <a:ext cx="67208" cy="187223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3314" y="284241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11079785" y="2439162"/>
            <a:ext cx="480060" cy="2160270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92636" y="2439162"/>
            <a:ext cx="67208" cy="216027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079785" y="255437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1646256" y="2151126"/>
            <a:ext cx="480060" cy="2448306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059107" y="2151126"/>
            <a:ext cx="67208" cy="244830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646256" y="226634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88936" y="459943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application, seven laboratory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extended the same Spring Boot 4.1 project (spring-lab-01, package kz.iitu.springlab). Each section below shows what was built, the real output captured on 16 October 2026, the individual variant and the answers to the defence questions.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84048" cy="457200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Spring Boot application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Spring Initializr, project structure, a REST controller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2 — GET /api/reverse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84048" cy="45720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688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IoC container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Beans, constructor injection, @Primary / @Qualifier / @Fallback, life cycle, scopes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2 — the "reversed" notifier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84048" cy="457200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175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configuration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application.yml, profiles, @ConfigurationProperties with validation, Actuator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2 — app.pagination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84048" cy="457200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5661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AOP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 and audit aspects, @Order, the CGLIB proxy, self-invocation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1 — call counter aspect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384048" cy="457200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1148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MVC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page controllers, request parameters, status codes, model, static resources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1 — GET /api/books/search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384048" cy="457200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663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and validation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form binding, Bean Validation, two languages, @ControllerAdvice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1 — ISBN constraint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384048" cy="457200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2120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0" y="5212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and a mapper, 201/204/404/409, ProblemDetail, OpenAPI and Swagger UI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052560" y="5212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1 — paging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5779008"/>
            <a:ext cx="384048" cy="457200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57790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5779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application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4114800" y="5779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Lab Library: the site that joins all seven labs, branch rk1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Spring Boot application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Spring Initializr, project structure, a REST controller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 — GET /api/reverse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2B4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and the generated project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5669280" cy="2971800"/>
          </a:xfrm>
          <a:prstGeom prst="roundRect">
            <a:avLst>
              <a:gd name="adj" fmla="val 2462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verification commands (PowerShell)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5349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java 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openjdk version "25.0.2" 2026-01-20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OpenJDK Runtime Environment (build 25.0.2+10-69)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OpenJDK 64-Bit Server VM (build 25.0.2+10-69, mixed mode, sharing)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javac 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 25.0.2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.\mvnw.cmd 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Maven 3.9.16 (2bdd9fddda4b155ebf8000e807eb73fd829a51d5)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version: 25.0.2, vendor: Oracle Corporation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name: "windows 11", version: "10.0", arch: "amd64", family: "windows"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git --version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2.55.0.windows.5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2344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Initializr parameters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and dependency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stable, no SNAPSHOT/M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/ Artifact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kz.iitu / spring-lab-01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domain; JAR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kz.iitu.springlab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of component scanning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executable, embedded Tomcat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LTS of the JDK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Web, DevTools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stack; auto-restart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rminal-bg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450799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450799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8992" y="450799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25880" y="443484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log: Spring Boot/Java version, port, start-up time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754880"/>
            <a:ext cx="10744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SpringLab01Application Starting SpringLab01Application v0.0.1-SNAPSHOT using Java 25.0.2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TomcatWebServer  Tomcat initialized with port 8080 (http)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SpringLab01Application Started SpringLab01Application in 6.844 seconds 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path "/" answered 404 before lab 5 (no handler yet); now it serves static/index.html.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and pom.xml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852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pom.xml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coordinates, parent, dependencies, plugins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mvnw, mvnw.cmd, .mvn/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Wrapper — no global Maven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src/main/java/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source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src/main/resources/application.yml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 (properties until lab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src/main/resources/static/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CSS, JS, images, index.html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src/main/resources/templates/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Thymeleaf views (labs 5–6)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src/test/java/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output, ignored by 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720840" y="1234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elements of pom.xml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64592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&lt;parent&gt; spring-boot-starter-parent 4.1.1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versions of every Spring and library dependency.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&lt;java.version&gt;25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release used by the build.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spring-boot-starter-webmvc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starter (Boot 4 name of starter-web).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spring-boot-maven-plugin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repackages the JAR into an executable one with nested libraries.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20840" y="4206240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420624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spring-webmvc, tomcat-embed-core and jackson-databind appear when only one dependency is declared? They are transitive dependencies of the starter: Maven downloads the whole dependency tree, with versions fixed by the parent.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HelloController — the first REST endpoints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web/HelloController.java (lab 1 part)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440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HelloController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"${app.owner:unknown}"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"/hello"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"/info"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getProperty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"java.version"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getRuntime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availableProcessors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javaVersion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cpuCores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rminal-bg"/>
          <p:cNvSpPr/>
          <p:nvPr/>
        </p:nvSpPr>
        <p:spPr>
          <a:xfrm>
            <a:off x="6492240" y="123444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97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5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1280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-i, run of 16 Oct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6002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http://localhost:8080/api/hello?name=IITU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"Hello, IITU!",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"owner": "Altai Ali",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"2026-10-16T19:30:23.8138368"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http://localhost:8080/api/info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{"owner":"Altai Ali","javaVersion":"25.0.2","cpuCores":16}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http://localhost:8080/api/none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"2026-10-16T14:30:24.134Z",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404,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"Not Found",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"path": "/api/none"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terminal-bg"/>
          <p:cNvSpPr/>
          <p:nvPr/>
        </p:nvSpPr>
        <p:spPr>
          <a:xfrm>
            <a:off x="6492240" y="49377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505663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39712" y="505663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505663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4983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… --server.port=9090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53035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TomcatWebServer  Tomcat initialized with port 9090 (http)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2 — GET /api/reverse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web/HelloController.java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715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"/reverse"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isBlank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ResponseStatusException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HttpStatus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"Parameter 'text' is required"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234440"/>
          <a:ext cx="4800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3152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text=Spring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"gnirpS", length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text=IITU 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"6202 UTII", length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text=racecar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"racecar", length 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 text)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'text' is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12280" y="3703320"/>
            <a:ext cx="4800600" cy="1005840"/>
          </a:xfrm>
          <a:prstGeom prst="roundRect">
            <a:avLst>
              <a:gd name="adj" fmla="val 5455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95160" y="370332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or blank parameter is rejected with 400 (ResponseStatusException). Since lab 7 the answer is an RFC 9457 problem detail produced by ApiExceptionHandler.</a:t>
            </a:r>
            <a:endParaRPr lang="en-US" sz="1250" dirty="0"/>
          </a:p>
        </p:txBody>
      </p:sp>
      <p:sp>
        <p:nvSpPr>
          <p:cNvPr id="12" name="terminal-bg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3232" y="482803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" y="482803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482803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25880" y="475488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sets + the error case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07492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http://localhost:8080/api/reverse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application/problem+json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{"detail":"Parameter 'text' is required","instance":"/api/reverse","status":400,"title":"Bad Request"}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answers to the defence questions (1/2)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three annotations does @SpringBootApplication combine?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@SpringBootConfiguration marks the class as a source of @Bean definitions; @EnableAutoConfiguration turns on conditional auto-configuration from the classpath; @ComponentScan scans the class's package and its sub-packages for components.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all classes sit in sub-packages of the start-up class?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@ComponentScan starts from the package of SpringLab01Application (kz.iitu.springlab). A class outside it is never found, so its endpoints answer 404 and its beans do not exist.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starter? Why did unlisted libraries appear?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starter is a dependency descriptor that pulls a ready set of libraries. spring-boot-starter-webmvc brings spring-webmvc, tomcat-embed-core and Jackson as transitive dependencies; Maven resolves them automatically.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parent element in pom.xml for?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spring-boot-starter-parent supplies dependency management (tested versions of all Spring and third-party libraries), plugin configuration and defaults such as UTF-8 and the Java release, so versions are omitted in our dependencies.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@Controller differ from @RestController?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= @Controller + @ResponseBody. A @Controller method returns a view name for a template; a @RestController method's return value is written to the response body as JSON by a message converter.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application learn its port? Two ways to change it?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server.port property, default 8080. Change it in application.properties/yml, or override with --server.port=9090 on the command line (also SERVER_PORT env variable or -Dserver.port).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answers to the defence questions (2/2)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@Value do and what does ${app.owner:unknown} mean?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@Value injects a value from the Environment into a field or parameter. ${app.owner:unknown} reads the key app.owner and falls back to the default "unknown" if the key is absent.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http://localhost:8080/ return 404 while the app runs?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is up, but no handler maps "/" and there was no static index.html yet, so DispatcherServlet finds nothing and Boot's /error endpoint renders the Whitelabel page with 404.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Greeting object turned into JSON? Which library?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@RestController return value goes to an HttpMessageConverter; the Jackson converter serialises the record's components to JSON (Jackson 3 in Spring Boot 4).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target/ added to .gitignore?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target/ is generated build output (classes, the JAR). It can always be rebuilt from sources, is large and machine-specific, and would only cause conflicts in the repository.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git add, git commit and git push?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stages changes in the index; commit records the staged snapshot in the local history; push sends local commits to the remote repository (GitHub).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2B4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java -jar give compared with a WAR on a server?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executable JAR embeds Tomcat, so one command starts the whole application with its own server version and settings; no external application server must be installed and configured.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IoC container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Beans, constructor injection, @Primary / @Qualifier / @Fallback, life cycle, scopes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 — the "reversed" notifier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interface, four beans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notify/Notifier.java, EmailNotifier.java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532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what was "sent"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channel name for the report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@Primary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LoggerFactory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getLogger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 &gt;&gt; {}"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"email: 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34440"/>
          <a:ext cx="4983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1508760"/>
                <a:gridCol w="1143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send("IITU")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ConsoleNotifier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@Order(1)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console: IITU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EmailNotifier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@Primary @Order(2)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email: IITU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ReversedNotifier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@Order(3) — variant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NoopNotifier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@Fallback @Order(99)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629400" y="3520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after the lab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393192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and its implementations, NotificationService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FormatConfig (@Bean), ContainerReport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LifecycleDemo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(prototype), TicketOffice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 —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HelloController, Lab2Controller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injection points in one service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notify/NotificationService.java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715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@Qualifier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"console"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9" name="terminal-bg"/>
          <p:cNvSpPr/>
          <p:nvPr/>
        </p:nvSpPr>
        <p:spPr>
          <a:xfrm>
            <a:off x="6766560" y="1234440"/>
            <a:ext cx="4846320" cy="2423160"/>
          </a:xfrm>
          <a:prstGeom prst="roundRect">
            <a:avLst>
              <a:gd name="adj" fmla="val 3019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403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/api/lab2/notify?text=IITU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00200"/>
            <a:ext cx="4526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…/api/lab2/notify?text=IITU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"primary": "email: IITU",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"all": ["console: IITU","email: IITU","UTII","noop"],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"beanNames": ["console","email","noop","reversed"],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"console": "console: IITU"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79476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3794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"all": console → email → reversed → noop. It is defined by @Order (1, 2, 3, 99): lower value first. The Map keys are bean names; primary resolved to email because of @Primary.</a:t>
            </a:r>
            <a:endParaRPr lang="en-US" sz="1250" dirty="0"/>
          </a:p>
        </p:txBody>
      </p:sp>
      <p:sp>
        <p:nvSpPr>
          <p:cNvPr id="17" name="code-bg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1023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config/FormatConfig.java — a bean from a JDK class; its name is the method name: reportDateFormatter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39496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DateTimeFormatter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reportDateFormatter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"${app.date-pattern:dd.MM.yyyy HH:mm:ss}"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… 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Experiment: commenting out @Primary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(EmailNotifier without @Primary)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6446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FAILED TO START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 0 of constructor in NotificationService required a single bean, but 4 were found: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console: defined in ConsoleNotifier.class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email: defined in EmailNotifier.class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noop: defined in NoopNotifier.class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reversed: defined in ReversedNotifier.class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may be due to missing parameter name information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Consider marking one of the beans as @Primary, updating the consumer to accept multiple beans, or using @Qualifier to identify the bean that should be consumed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2344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@Fallback does not help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6459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asks for one Notifier. Without @Primary the candidates are console, email and reversed — three equal, non-fallback beans. @Fallback only would only help if exactly one non-fallback bean were left. The failure report lists all four candidates, noop included, and the context does not start.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89520" y="42062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4206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put @Primary back on EmailNotifier (or add @Qualifier at the injection point).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cycle and scopes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5852160" cy="1600200"/>
          </a:xfrm>
          <a:prstGeom prst="roundRect">
            <a:avLst>
              <a:gd name="adj" fmla="val 457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log: LIFECYCLE &gt;&gt; lines come before "Started"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5532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LifecycleDemo    LIFECYCLE &gt;&gt; 2026-10-16 19:30:20  1. Constructor called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LifecycleDemo    LIFECYCLE &gt;&gt; 2026-10-16 19:30:20  2. @PostConstruct executed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TomcatWebServer  Tomcat started on port 8080 (http) with context path '/'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SpringLab01Application Started SpringLab01Application in 6.844 seconds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constructor runs first (the formatter bean is already injected), then @PostConstruct; both happen while the context is refreshed, so before "Started SpringLab01Application". @PreDestroy ran on a graceful stop (seen in the failed-start log of lab 3), but not after taskkill /F — a killed JVM runs no shutdown hooks.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234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/api/lab2/scopes, twice in a row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4592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compared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injectedDirectly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0057fe04, 0057fe04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0057fe04, 0057fe04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66f1c6b5, b3d574dc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87db70dc, 6ca43cd8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(singleton)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253079246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253079246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675120" y="3657600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3657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injectedDirectly never changes: the prototype Ticket was created once, when the singleton TicketOffice was built. ObjectProvider.getObject() asks the container each time, so every call gets a new Ticket.</a:t>
            </a:r>
            <a:endParaRPr lang="en-US" sz="1250" dirty="0"/>
          </a:p>
        </p:txBody>
      </p:sp>
      <p:sp>
        <p:nvSpPr>
          <p:cNvPr id="17" name="code-bg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7823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scope/TicketOffice.java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07492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created ONCE, together with the singleton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ObjectProvider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source of new prototype instances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getObject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new Ticket on every call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report and variant 2 — the "reversed" notifier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CommandLineRunner ContainerReport at start-up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5074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Bean definitions in total: 370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 implementations: [console, email, noop, reversed]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of the notificationService bean: kz.iitu.springlab.notify.NotificationService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definitions than our ~25 classes: auto-configuration adds Tomcat, MVC, Jackson, Thymeleaf, Actuator, AOP and springdoc beans.</a:t>
            </a:r>
            <a:endParaRPr lang="en-US" sz="1300" dirty="0"/>
          </a:p>
        </p:txBody>
      </p:sp>
      <p:sp>
        <p:nvSpPr>
          <p:cNvPr id="13" name="code-bg"/>
          <p:cNvSpPr/>
          <p:nvPr/>
        </p:nvSpPr>
        <p:spPr>
          <a:xfrm>
            <a:off x="6172200" y="123444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30759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notify/ReversedNotifier.java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1600200"/>
            <a:ext cx="51206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"reversed"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@PostConstruct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"ReversedNotifier initialized"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"reversed"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/api/lab2/custom?text=…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olleH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krowemarF gnirpS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IITU-2409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9042-UTII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bean and the two main ways to declare one?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whose creation and life cycle the container manages. Declared with a stereotype annotation (@Component, @Service…) found by scanning, or by a @Bean method in a @Configuration class.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constructor injection rather than field injection?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can be final; the object is always fully assembled; dependencies are explicit and it can be created with plain new in a unit test. Missing dependencies fail at start-up.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@Autowired on a constructor mandatory?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class has several constructors and Spring must be told which one to use. With exactly one constructor it can be omitted.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with two candidates and three ways to fix it?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NoUniqueBeanDefinitionException. Fix with @Qualifier("name") at the injection point, @Primary on the preferred bean, or @Fallback on the others (or inject a List/Map).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vs @Fallback; why did @Fallback not help?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@Primary picks one winner; @Fallback removes a bean from the candidates while a non-fallback one exists. Without @Primary, console and email were still two equal non-fallback candidates.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order in List&lt;Notifier&gt; defined?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@Order (or Ordered): lower value first — console(1), email(2), reversed(3), noop(99). Without @Order it is registration order.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Map&lt;String, Notifier&gt; receive?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Notifier bean; the keys are bean names: console, email, reversed, noop.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a class not be annotated? What then?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not our code — e.g. DateTimeFormatter from the JDK. It is declared with a @Bean method in a @Configuration class (FormatConfig).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name of a @Bean bean?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name: reportDateFormatter.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constructor, @PostConstruct, @PreDestroy?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→ dependency injection → @PostConstruct → bean in use → @PreDestroy on context close. In the constructor only its own parameters exist; field/setter injection is not done yet.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@PreDestroy not executed when the process is killed?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forced kill (taskkill /F, kill -9) stops the JVM immediately; shutdown hooks never run, so the context is not closed and no destroy callbacks are called.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vs prototype; why did injectedDirectly not change?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one instance per context; prototype: a new one per request to the container. Ticket was injected once into the singleton TicketOffice, so the same instance is reused.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a new prototype instance inside a singleton?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ObjectProvider&lt;Ticket&gt; and call getObject() each time (or use lookup method injection / a scoped proxy).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a singleton not keep mutable state? LifecycleDemo?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serves all threads, so mutable state causes races and leaks between requests. LifecycleDemo writes its list only during start-up and shutdown and returns a copy, so it is acceptable.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8C2F3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getBeanDefinitionCount() show? Why so many?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bean definitions in the context. Auto-configuration registers hundreds of infrastructure beans (Tomcat, MVC, Jackson, Actuator, AOP…) besides our own.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3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configuration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application.yml, profiles, @ConfigurationProperties with validation, Actuator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 — app.pagination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2F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application.yml and two profile files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(shared)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617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8080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Altai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IT1-2409IS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@iitu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kz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kz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iitu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health, env, configprops, conditions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669280" y="123444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307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application-dev.yml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6002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8081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kz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iitu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endParaRPr lang="en-US" sz="1050" dirty="0"/>
          </a:p>
        </p:txBody>
      </p:sp>
      <p:sp>
        <p:nvSpPr>
          <p:cNvPr id="12" name="code-bg"/>
          <p:cNvSpPr/>
          <p:nvPr/>
        </p:nvSpPr>
        <p:spPr>
          <a:xfrm>
            <a:off x="8732520" y="123444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307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application-prod.yml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16002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8080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kz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iitu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443484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44348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spring.profiles.active is not set in any file: the profile is chosen at start-up (--spring.profiles.active=dev), so the same JAR runs everywhere.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configuration with validation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03504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config/AppProperties.java — Pagination is variant 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7150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@Validated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@ConfigurationProperties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AppProperties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@Email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"5s"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"100"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rminal-bg"/>
          <p:cNvSpPr/>
          <p:nvPr/>
        </p:nvSpPr>
        <p:spPr>
          <a:xfrm>
            <a:off x="6766560" y="123444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1403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91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--app.mail.retry-count=99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0020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FAILED TO 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 to target kz.iitu.springlab.config.AppProperties failed: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Property: app.mail.retryCount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"99"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Reason: must be less than or equal to 10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4480560"/>
            <a:ext cx="4846320" cy="1508760"/>
          </a:xfrm>
          <a:prstGeom prst="roundRect">
            <a:avLst>
              <a:gd name="adj" fmla="val 363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448056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value is caught while the context starts: the message names the key, the value and the violated @Max(10). Restoring 3 fixes it. @ConfigurationPropertiesScan on SpringLab01Application registers the record.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profile, dev and prod side by side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406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92024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/api/lab3/config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mailRetryCount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paginationDefaultSize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paginationMaxSize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[dev]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profile is 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DEVELOPMENT: the data is test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PRODUCTION: handle with 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de-bg"/>
          <p:cNvSpPr/>
          <p:nvPr/>
        </p:nvSpPr>
        <p:spPr>
          <a:xfrm>
            <a:off x="8183880" y="123444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13075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config/EnvironmentBanner.java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16002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@Profile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"dev"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DevBanner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@Profile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ProdBanner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…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@Profile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"!dev &amp; !prod"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DefaultBanner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…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0292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changes the port to 8081, switches mail off, sets retry-count 1 and the variant's page sizes 10/50; prod sets retry-count 5. Shared values (owner, group, mailFrom) come from application.yml.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property source wins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set for app.mail.retry-count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application.yml only (3)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yml + environment variable APP_MAIL_RETRYCOUNT=7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yml + variable 7 + system property -D…=5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yml + variable 7 + command line argument --…=9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profile (1) + command line argument 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0624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external the source, the higher it stands: command-line arguments &gt; Java system properties &gt; OS environment variables &gt; profile file &gt; application.yml in the JAR. The command-line argument even beats the dev profile file.</a:t>
            </a:r>
            <a:endParaRPr lang="en-US" sz="1350" dirty="0"/>
          </a:p>
        </p:txBody>
      </p:sp>
      <p:sp>
        <p:nvSpPr>
          <p:cNvPr id="8" name="terminal-bg"/>
          <p:cNvSpPr/>
          <p:nvPr/>
        </p:nvSpPr>
        <p:spPr>
          <a:xfrm>
            <a:off x="7543800" y="1234440"/>
            <a:ext cx="4069080" cy="2194560"/>
          </a:xfrm>
          <a:prstGeom prst="roundRect">
            <a:avLst>
              <a:gd name="adj" fmla="val 333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0839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9127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7415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1280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/actuator/env/app.mail.retry-count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16002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"property":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"source": "commandLineArgs",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"value": "9"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"propertySources": [ commandLineArgs: 9,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… application.yml: 3 ]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43800" y="3566160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26680" y="356616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with only the environment variable, /actuator/env/app.mail.retry-count still reports application.yml = 3 while the bound value is 7. The endpoint looks the key up literally; the binder uses relaxed binding (APP_MAIL_RETRYCOUNT).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Diagnostics: the --debug conditions report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6949440" cy="2103120"/>
          </a:xfrm>
          <a:prstGeom prst="roundRect">
            <a:avLst>
              <a:gd name="adj" fmla="val 3478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matches (excerpt)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6629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 matches: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JacksonAutoConfiguration matched: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@ConditionalOnClass found required class 'tools.jackson.databind.json.JsonMapper' (OnClassCondition)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ThymeleafAutoConfiguration matched: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@ConditionalOnClass found required classes 'org.thymeleaf.templatemode.TemplateMode', 'org.thymeleaf.spring6.SpringTemplateEngine' (OnClassCondition)</a:t>
            </a:r>
            <a:endParaRPr lang="en-US" sz="700" dirty="0"/>
          </a:p>
        </p:txBody>
      </p:sp>
      <p:sp>
        <p:nvSpPr>
          <p:cNvPr id="12" name="terminal-bg"/>
          <p:cNvSpPr/>
          <p:nvPr/>
        </p:nvSpPr>
        <p:spPr>
          <a:xfrm>
            <a:off x="548640" y="3520440"/>
            <a:ext cx="6949440" cy="2103120"/>
          </a:xfrm>
          <a:prstGeom prst="roundRect">
            <a:avLst>
              <a:gd name="adj" fmla="val 3478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639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639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3639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3566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matches (excerpt)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86200"/>
            <a:ext cx="6629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matches: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AopAutoConfiguration.AspectJAutoProxyingConfiguration.JdkDynamicAutoProxyConfiguration: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Did not match: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@ConditionalOnBooleanProperty (spring.aop.proxy-target-class=false) did not find property 'spring.aop.proxy-target-class' (OnPropertyCondition)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AopAutoConfiguration.ClassProxyingConfiguration: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Did not match: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@ConditionalOnMissingClass found unwanted class 'org.aspectj.weaver.Advice' (OnClassCondition)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12344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1645920"/>
            <a:ext cx="3840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@Conditional checks passed, the auto-configuration was applied (the class was on the classpath).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with the reason. JDK dynamic proxies were not configured because proxy-target-class is not false — this is why lab 4 saw a CGLIB proxy.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@ConditionalOnMissingBean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our own bean replace the default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settings not be kept in the code? A published password?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the same for every environment, settings are not (twelve-factor). A password in a public repo is compromised for good — it stays in Git history and must be rotated.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 vs command-line argument? ./config vs file in JAR?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argument beats an environment variable. A file in ./config beats application.yml inside the JAR: external sources win over packaged ones.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set spring.profiles.active in application.yml?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artefact must run in every environment; the profile is chosen at start-up. Hard-coding it would force dev or prod everywhere.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dev active: only application-dev.yml or both?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Both. application.yml is read first, application-dev.yml is applied on top and overrides only the keys it contains.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advantages of @ConfigurationProperties over @Value?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binding of a whole group; validation with @Validated; relaxed binding and metadata/IDE completion; immutable records, Duration/DataSize conversion and visibility in /actuator/configprops.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@ConfigurationPropertiesScan for?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@ConfigurationProperties classes and registers them as beans. Alternatives: @EnableConfigurationProperties(AppProperties.class) or making the class a @Component.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app.mail.retry-count as an environment variable?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APP_MAIL_RETRYCOUNT: dots become underscores, dashes are removed, upper case. This is relaxed binding.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@Validated check run? Why better?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binding, when the context starts. A wrong value stops the application immediately with a clear message instead of failing later in production.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@Valid needed on the nested record?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does not cascade by default; @Valid tells the validator to descend into Mail (and Pagination) and check their constraints.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@Profile("!dev &amp; !prod") mean?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bean is active only when neither dev nor prod is active — the default banner.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the source of a value?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/actuator/env/{key} lists every property source that has the key and shows which one wins (e.g. commandLineArgs, systemEnvironment, application.yml).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matches in --debug?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conditions evaluation report: positive matches are auto-configurations whose @Conditional checks passed and were applied; negative matches were skipped, with the reason.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@ConditionalOnMissingBean?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auto-configured bean is created only if the application has not defined its own bean of that type — our bean always wins over the default.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spring-boot-configuration-processor for? Why optional?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META-INF metadata at compile time for IDE completion and docs of our keys. Only needed at build time, so optional keeps it out of the runtime artefact.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2F6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setting to a Docker container without rebuilding?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environment variable (docker run -e APP_MAIL_RETRYCOUNT=7), a command argument, or a mounted config file / SPRING_APPLICATION_JSON.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4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AOP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 and audit aspects, @Order, the CGLIB proxy, self-invocation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 — call counter aspect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5B3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pointcuts and the logging aspect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aspect/Pointcuts.java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@Aspect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Pointcuts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@Pointcut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"within(kz.iitu.springlab.service..*)"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serviceLayer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@Pointcut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"execution(public * *(..))"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publicMethod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@Pointcut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"serviceLayer() &amp;&amp; publicMethod()"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serviceOperation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760720" y="123444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aspect/LoggingAspect.java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600200"/>
            <a:ext cx="5532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SVC = "kz.iitu.springlab.aspect.Pointcuts.serviceOperation()"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@Aspect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LoggingAspect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"[LOG] -&gt; {} args={}"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toShortString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getArgs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@AfterReturning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pointcut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afterReturning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"[LOG] &lt;- {} returned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toShortString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@AfterThrowing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pointcut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afterThrowing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"[LOG] !! {} threw {}: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toShortString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getSimpleName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029200" cy="1874520"/>
          </a:xfrm>
          <a:prstGeom prst="roundRect">
            <a:avLst>
              <a:gd name="adj" fmla="val 2927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within(kz.iitu.springlab.service..*) — every type in service and its sub-packages ("..") ; execution(public * *(..)) — any public method, any return type, any arguments. The aspects refer only to serviceOperation(): no expression is repeated.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with @Around and auditing with @Audited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aspect/TimingAspect.java, @Order(3)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166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SVC = "kz.iitu.springlab.aspect.Pointcuts.serviceOperation()"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@Around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ProceedingJoinPoint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nanoTime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nanoTime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1_000_000;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toShortString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200)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"[TIME] SLOW: {} --- {} ms"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"[TIME] {} --- {} ms"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9" name="code-bg"/>
          <p:cNvSpPr/>
          <p:nvPr/>
        </p:nvSpPr>
        <p:spPr>
          <a:xfrm>
            <a:off x="6217920" y="123444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307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aspect/AuditAspect.java, @Order(1)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00200"/>
            <a:ext cx="5074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"@annotation(audited)"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ProceedingJoinPoint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logArguments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"[AUDIT] start {} at {} args={}"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getArgs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"[AUDIT] start {} at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"[AUDIT] {} success at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"[AUDIT] {} failure at {}: {}"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exception must not be suppressed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12" name="code-bg"/>
          <p:cNvSpPr/>
          <p:nvPr/>
        </p:nvSpPr>
        <p:spPr>
          <a:xfrm>
            <a:off x="548640" y="46634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736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audit/Audited.java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2920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@Target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ElementType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@Retention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RetentionPolicy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by reflection at run time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@interface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logArguments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aspects around one call — the order in the log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/api/lab4/items?limit=5 → CatalogService.findAll(5), @Audited(CATALOG_LIST, logArguments = true)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10744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[AUDIT] start CATALOG_LIST args=[5]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[LOG] -&gt; CatalogService.findAll(..) args=[5]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 [TIME] SLOW: CatalogService.findAll(..) --- 309 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[LOG] &lt;- CatalogService.findAll(..) returned [Item no. 1, Item no. 2, Item no. 3, Item no. 4, Item no. 5]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[AUDIT] CATALOG_LIST success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566160"/>
                <a:gridCol w="6766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and 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[AUDIT] start CATALOG_LIST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AuditAspect @Order(1): highest precedence, first on the way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[LOG] -&gt; CatalogService.findAll(..)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LoggingAspect @Order(2), @Before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[TIME] SLOW … 3xx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TimingAspect @Order(3): innermost, first on the way out (&gt; 200 ms → WARN)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[LOG] &lt;- … returned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LoggingAspect @AfterReturning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[AUDIT] CATALOG_LIST 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AuditAspect closes last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failing call fires @AfterThrowing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/api/lab4/item/0 → CatalogService.remove(0) throws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10744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[AUDIT] start CATALOG_REMOVE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[LOG] -&gt; CatalogService.remove(..) args=[0]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[TIME] CatalogService.remove(..) --- 0 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[LOG] !! CatalogService.remove(..) threw IllegalArgumentException: Invalid identifier: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 [AUDIT] CATALOG_REMOVE failure Invalid identifier: 0</a:t>
            </a:r>
            <a:endParaRPr lang="en-US" sz="1050" dirty="0"/>
          </a:p>
        </p:txBody>
      </p:sp>
      <p:sp>
        <p:nvSpPr>
          <p:cNvPr id="12" name="terminal-bg"/>
          <p:cNvSpPr/>
          <p:nvPr/>
        </p:nvSpPr>
        <p:spPr>
          <a:xfrm>
            <a:off x="548640" y="329184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4107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4107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34107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still gets the error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5760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DELETE http://localhost:8080/api/lab4/item/0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HTTP/1.1 500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"2026-10-16T14:30:27.239Z",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500,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"error": "Internal Server Error",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"path": "/api/lab4/item/0"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29184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@AfterReturning did not fire: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never returned normally.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@AfterThrowing fired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exception bound by throwing = "ex".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 was not suppressed: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AuditAspect logs "failure" and rethrows, so the endpoint answers 500.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proxy and self-invocation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6035040" cy="1600200"/>
          </a:xfrm>
          <a:prstGeom prst="roundRect">
            <a:avLst>
              <a:gd name="adj" fmla="val 457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/api/lab4/proxy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"className": "kz.iitu.springlab.service.CatalogService$$SpringCGLIB$$1",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"isCglib": "true",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"isAopProxy": "true",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"superClass": "CatalogService"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280160"/>
                <a:gridCol w="1005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expected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seen: before 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/api/lab4/item/5 (external call)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start + success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/api/lab4/remove-twice/5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(two remove calls)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LoggingAspect records in the second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812280" y="1234440"/>
            <a:ext cx="4800600" cy="2240280"/>
          </a:xfrm>
          <a:prstGeom prst="roundRect">
            <a:avLst>
              <a:gd name="adj" fmla="val 2449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95160" y="1234440"/>
            <a:ext cx="4434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name CatalogService$$SpringCGLIB$$… — a CGLIB subclass generated at run time (Boot proxies classes by default). Inside the bean, this.remove() calls the target directly and skips the proxy, so no advice runs. Fix used: a lazy self-reference — calls go through the proxy again.</a:t>
            </a:r>
            <a:endParaRPr lang="en-US" sz="1250" dirty="0"/>
          </a:p>
        </p:txBody>
      </p:sp>
      <p:sp>
        <p:nvSpPr>
          <p:cNvPr id="15" name="code-bg"/>
          <p:cNvSpPr/>
          <p:nvPr/>
        </p:nvSpPr>
        <p:spPr>
          <a:xfrm>
            <a:off x="6812280" y="365760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95160" y="37307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service/CatalogService.java — the fix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4023360"/>
            <a:ext cx="4480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@Autowired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@Lazy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proxy, not this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removeTwice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"; 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 — the call counter aspect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309360" cy="3291840"/>
          </a:xfrm>
          <a:prstGeom prst="roundRect">
            <a:avLst>
              <a:gd name="adj" fmla="val 2222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aspect/CallCounterAspect.java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989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@Aspect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CallCounterAspect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ConcurrentHashMap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JoinPoint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getSignature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1L,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getStatistics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SVC = "kz.iitu.springlab.aspect.Pointcuts.serviceOperation()"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48640" y="4663440"/>
            <a:ext cx="6309360" cy="1325880"/>
          </a:xfrm>
          <a:prstGeom prst="roundRect">
            <a:avLst>
              <a:gd name="adj" fmla="val 551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736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controller/StatsController.java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29200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"/api/lab4/stats"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callCounterAspect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getStatistics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}</a:t>
            </a:r>
            <a:endParaRPr lang="en-US" sz="1000" dirty="0"/>
          </a:p>
        </p:txBody>
      </p:sp>
      <p:sp>
        <p:nvSpPr>
          <p:cNvPr id="12" name="terminal-bg"/>
          <p:cNvSpPr/>
          <p:nvPr/>
        </p:nvSpPr>
        <p:spPr>
          <a:xfrm>
            <a:off x="7086600" y="1234440"/>
            <a:ext cx="4526280" cy="2194560"/>
          </a:xfrm>
          <a:prstGeom prst="roundRect">
            <a:avLst>
              <a:gd name="adj" fmla="val 333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5119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695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2801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calls on the previous slides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160020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…/api/lab4/stats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"findAll": 1,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"findById": 1,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"remove": 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"removeTwice":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86600" y="3566160"/>
            <a:ext cx="4526280" cy="2423160"/>
          </a:xfrm>
          <a:prstGeom prst="roundRect">
            <a:avLst>
              <a:gd name="adj" fmla="val 2264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3566160"/>
            <a:ext cx="4160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 on serviceOperation(); counters live in a ConcurrentHashMap and merge() adds 1 atomically, so parallel requests are safe. remove = 4: item/0, item/5 and the two self-calls of removeTwice, which reach the proxy thanks to the fix.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cross-cutting concern? Which ones are in the project?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needed in many places but not part of the business: logging, timing, auditing, call counting, transactions, security. Here: LoggingAspect, TimingAspect, AuditAspect, CallCounterAspect.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the pointcut and the advice.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Pointcuts.serviceOperation() is the pointcut — it answers WHERE. @Before/@AfterReturning/@Around methods are advice — they answer WHAT to 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within(kz.iitu.springlab.service..*). .. vs *?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type in the service package and its sub-packages. * matches one name segment; .. matches any number of packages.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an aspect need @Aspect and @Component?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@Aspect marks it for AspectJ processing, but only beans are seen by Spring's auto-proxy creator; @Component makes it a bean.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advice of one aspect around a call?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@Around (before proceed) → @Before → method → @AfterReturning or @AfterThrowing → @After → @Around (after proceed).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proceed() is removed from @Around?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method never runs; the advice's return value (null) is returned and the endpoint answers an empty body.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@AfterReturning not fire on DELETE /item/0?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remove(0) threw IllegalArgumentException; the method did not return normally, so @AfterThrowing fired instead.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throwing attribute for? Name mismatch?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binds the exception to a parameter of the advice and narrows it by type. If the name does not match a parameter, Spring fails at start-up with IllegalArgumentException.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@Retention be RUNTIME?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reads the annotation by reflection at run time; with CLASS/SOURCE retention it is absent and @annotation(audited) matches nothing.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@Audited instance reach the advice?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@Around("@annotation(audited)") binds by parameter name: the advice parameter Audited audited receives the annotation, so action() and logArguments() are read directly.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aspect runs first in, which last out?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AuditAspect @Order(1) — highest precedence: first on the way in and last on the way out; TimingAspect @Order(3) is innermost.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/api/lab4/proxy class name.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CatalogService$$SpringCGLIB$$0 — a runtime subclass generated by CGLIB; isAopProxy and isCglib are true; the superclass is CatalogService.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CGLIB though an interface is possible?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sets spring.aop.proxy-target-class=true by default; class proxies work whether a bean is injected by interface or by class.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advice on self-invocation? Which fix?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this.remove() goes straight to the target object, bypassing the proxy. Fix: inject a lazy self-reference (@Autowired @Lazy CatalogService self) and call self.remove().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aspect fire on a private or static method?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Proxies intercept only overridable, externally called methods; private and static methods cannot be overridden by the CGLIB subclass.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5B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Spring annotations using the same mechanism?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@Transactional, @Cacheable, @Async (also @Retryable, @PreAuthorize, @Validated method validation).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5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MVC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and page controllers, request parameters, status codes, model, static resources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 — GET /api/books/search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9A6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controller of lab 5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94360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web/BookRestController.java (branch lab05)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623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"/api/books"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BookRestController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constructor injection of BookService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"10"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"/{id}"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 or 404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orElseGet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-&gt;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201 + Location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"/api/books/"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/{id}: replace — 200 or 404 (same pattern)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"/{id}"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204 or 404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?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noContent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234440"/>
          <a:ext cx="493776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68580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came 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books as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/api/books?author=Bloch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book (Effective Java)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Location: /api/books/12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body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/api/books/2 again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gone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675120" y="470916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4709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on the final code: since labs 6–7 the 404 is a problem detail and the request needs a genre, the statuses are unchanged.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page from a model: @Controller + Thymeleaf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web/BookPageController.java (lab 5)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526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"books/list"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templates/books/list.html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code-bg"/>
          <p:cNvSpPr/>
          <p:nvPr/>
        </p:nvSpPr>
        <p:spPr>
          <a:xfrm>
            <a:off x="548640" y="352044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93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templates/books/list.html (lab 5)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862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 : ${books}"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"${book.id}"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&gt;1&lt;/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"${book.title}"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"${book.author}"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"${book.year}"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&gt;2020&lt;/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"stylesheet"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"@{/css/app.css}"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96128" y="1207008"/>
            <a:ext cx="6044184" cy="42153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3" name="Image 0" descr="/home/claude/deck/img/i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34440"/>
            <a:ext cx="5989320" cy="41605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623560" y="553212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/books?author=Bloch — the model filled by the controller, read by the template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resources and Post/Redirect/Get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controller maps this URL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http://localhost:8080/css/app.css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text/css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 12486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63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serves everything in src/main/resources/static through ResourceHttpRequestHandler; static/index.html becomes the start page at "/".</a:t>
            </a:r>
            <a:endParaRPr lang="en-US" sz="1300" dirty="0"/>
          </a:p>
        </p:txBody>
      </p:sp>
      <p:sp>
        <p:nvSpPr>
          <p:cNvPr id="13" name="terminal-bg"/>
          <p:cNvSpPr/>
          <p:nvPr/>
        </p:nvSpPr>
        <p:spPr>
          <a:xfrm>
            <a:off x="548640" y="40233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14223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14223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414223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POST without following the redirect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389120"/>
            <a:ext cx="4800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POST -d "title=Java Precisely&amp;…" …/books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HTTP/1.1 302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http://localhost:8080/books/14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70448" y="1207008"/>
            <a:ext cx="5769864" cy="36210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20" name="Image 0" descr="/home/claude/deck/img/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34440"/>
            <a:ext cx="5715000" cy="35661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97880" y="4937760"/>
            <a:ext cx="5715000" cy="1051560"/>
          </a:xfrm>
          <a:prstGeom prst="roundRect">
            <a:avLst>
              <a:gd name="adj" fmla="val 5217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80760" y="493776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requests: POST → 302 with Location, then GET. The flash message lives in the session for exactly one request, so F5 repeats only the GET and creates no duplicate.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error statuses and what did not match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22960"/>
                <a:gridCol w="6949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part of the mapping failed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/api/books/abc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"abc" cannot be converted to long id — argument binding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/api/nothing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path: no handler and no static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HTTP method: only GET and POST exist (Allow header)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POST, Content-Type: text/plain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consumes: no converter can read text/plain into BookRequest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GET, Accept: application/xml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produces: no converter can write XML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rminal-bg"/>
          <p:cNvSpPr/>
          <p:nvPr/>
        </p:nvSpPr>
        <p:spPr>
          <a:xfrm>
            <a:off x="548640" y="42062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43251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43251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8992" y="43251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325880" y="4251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in full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572000"/>
            <a:ext cx="10744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POST -H "Content-Type: text/plain" -d @pro-spring.json …/api/books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HTTP/1.1 415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application/json, application/yaml, application/*+json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application/problem+json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"Content-Type 'text/plain;charset=UTF-8' is not supported.",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415,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"Unsupported Media Type"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 — GET /api/books/search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852160" cy="219456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web/BookApiController.java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"/search"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200, [] if nothing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toResponseList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searchByTitle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48640" y="3566160"/>
            <a:ext cx="5852160" cy="2423160"/>
          </a:xfrm>
          <a:prstGeom prst="roundRect">
            <a:avLst>
              <a:gd name="adj" fmla="val 3019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39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catalog/BookService.java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31920"/>
            <a:ext cx="5532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searchByTitle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toLowerCase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34440"/>
          <a:ext cx="4983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2697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?title=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Java, Java Concurrency in Practice, Head First 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(case-insensitive)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in Action, Pro Spring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 (empty array)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629400" y="3657600"/>
            <a:ext cx="4983480" cy="1371600"/>
          </a:xfrm>
          <a:prstGeom prst="roundRect">
            <a:avLst>
              <a:gd name="adj" fmla="val 4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36576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are lower-cased with Locale.ROOT, so "java" finds "Effective Java". An empty result is still 200 with [] — "nothing matched" is a valid answer, not a missing resource.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request from the browser to the method and back.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→ DispatcherServlet → HandlerMapping finds the method → HandlerAdapter binds arguments and calls it → return value goes to a ViewResolver + Thymeleaf (page) or an HttpMessageConverter (JSON) → response.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HandlerMapping and HandlerAdapter do?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HandlerMapping chooses the handler method for a path and HTTP method; HandlerAdapter resolves the method arguments, invokes it and processes the return value.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does @ResponseBody change?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value is written to the body by a message converter instead of being treated as a view name. It is inherited from @RestController.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each parameter of list() come from?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and limit are @RequestParam — query string parameters; id in other methods is a @PathVariable — a path segment; the POST body is @RequestBody.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?limit=abc? Why is the method not called?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to int fails during argument binding — MethodArgumentTypeMismatchException → 400 before the method is invoked.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@RequestParam(required = false) vs without attributes?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attributes the parameter is mandatory: missing → 400. With required = false a missing value becomes null.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201 and not 200? What is in Location?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says a new resource exists; Location carries its URI (/api/books/12) so the client can fetch it without guessing.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second DELETE return 404?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call removed the record; the resource no longer exists, so the service reports it as not found.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model in the page controller?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attributes the controller fills (books, author, genres…) and the Thymeleaf template reads through ${...}.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books/list become a file?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ThymeleafViewResolver adds prefix classpath:/templates/ and suffix .html → templates/books/list.html.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/css/app.css served without a controller?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maps /** to static resource locations; ResourceHttpRequestHandler serves files from src/main/resources/static.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in Post/Redirect/Get?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Two: POST /books → 302 with Location; the browser then sends GET to the new URL → 200. F5 repeats only the GET.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5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flash message stored between requests?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HTTP session by the FlashMapManager; it is copied into the model of the redirected request and removed right after.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Status-code table: which part of the mapping failed?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/books/abc — type conversion of the path variable (400); /api/nothing — path (404); DELETE /api/books — method (405); text/plain — consumes (415); Accept xml — produces (406).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415 for text/plain and 406 for application/xml?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415: no converter can READ the request body of that type. 406: no converter can WRITE the response in the type the client accepts.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9A6B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controllers if the engine is replaced?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Nothing: they return logical view names and a model; only templates and the starter change.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6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validation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form binding, Bean Validation, two languages, @ControllerAdvice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 — ISBN constraint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1B5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 object and the POST handler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web/BookForm.java (fields)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800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BookForm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"{book.title.required}"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120,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"{book.title.size}"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"{book.author.required}"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@NoDigits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1450,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"{book.year.range}"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2100,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"{book.year.range}"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"{book.genre.required}"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@Isbn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getters and setters …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852160" y="123444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3075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web/BookPageController.java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600200"/>
            <a:ext cx="5440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@ModelAttribute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"form"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BookForm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BindingResult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RedirectAttributes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hasErrors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"genres"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"books/form"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"flash.added"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"redirect:/books/"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DuplicateTitleException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"book.duplicate"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"genres"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"books/form"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input is rejected, typed values survive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5495544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40680" cy="2057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3375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title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44768" y="1207008"/>
            <a:ext cx="5495544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0" name="Image 1" descr="/home/claude/deck/img/i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40680" cy="2057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72200" y="33375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1200 and no genre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21208" y="3721608"/>
            <a:ext cx="5495544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3" name="Image 2" descr="/home/claude/deck/img/i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5440680" cy="2057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" y="5852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in author, wrong ISBN check digit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44768" y="3721608"/>
            <a:ext cx="5495544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6" name="Image 3" descr="/home/claude/deck/img/i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749040"/>
            <a:ext cx="5440680" cy="2057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72200" y="5852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 — a global error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languages — captions and validation messages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4992624" cy="43982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937760" cy="4343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?lang=ru, empty form submitted: Russian errors</a:t>
            </a:r>
            <a:endParaRPr lang="en-US" sz="1150" dirty="0"/>
          </a:p>
        </p:txBody>
      </p:sp>
      <p:sp>
        <p:nvSpPr>
          <p:cNvPr id="9" name="code-bg"/>
          <p:cNvSpPr/>
          <p:nvPr/>
        </p:nvSpPr>
        <p:spPr>
          <a:xfrm>
            <a:off x="5715000" y="1234440"/>
            <a:ext cx="5897880" cy="2057400"/>
          </a:xfrm>
          <a:prstGeom prst="roundRect">
            <a:avLst>
              <a:gd name="adj" fmla="val 3556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13075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messages.properties / messages_ru.properties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1600200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1450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2100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=Название не может быть пустым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=Год должен быть в диапазоне 1450–2100</a:t>
            </a:r>
            <a:endParaRPr lang="en-US" sz="1000" dirty="0"/>
          </a:p>
        </p:txBody>
      </p:sp>
      <p:sp>
        <p:nvSpPr>
          <p:cNvPr id="12" name="code-bg"/>
          <p:cNvSpPr/>
          <p:nvPr/>
        </p:nvSpPr>
        <p:spPr>
          <a:xfrm>
            <a:off x="5715000" y="3429000"/>
            <a:ext cx="5897880" cy="1463040"/>
          </a:xfrm>
          <a:prstGeom prst="roundRect">
            <a:avLst>
              <a:gd name="adj" fmla="val 500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97880" y="350215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web/LocaleConfiguration.java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37947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SessionLocaleResolver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SessionLocaleResolver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setDefaultLocale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LocaleChangeInterceptor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LocaleChangeInterceptor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setParamName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"lang"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?lang=ru | ?lang=en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15000" y="5029200"/>
            <a:ext cx="5897880" cy="960120"/>
          </a:xfrm>
          <a:prstGeom prst="roundRect">
            <a:avLst>
              <a:gd name="adj" fmla="val 5714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97880" y="502920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during the run: Windows has the ru_RU locale, and Spring fell back to messages_ru for English. Fix: spring.messages.fallback-to-system-locale: false.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 constraint and two exception handlers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web/NoDigits.java + NoDigitsValidator.java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166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@Constraint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validatedBy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NoDigitsValidator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@interface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NoDigits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"{book.author.nodigits}"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&lt;?&gt;[]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&gt;[]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ConstraintValidatorContext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@NotBlank's business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noneMatch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isDigit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code-bg"/>
          <p:cNvSpPr/>
          <p:nvPr/>
        </p:nvSpPr>
        <p:spPr>
          <a:xfrm>
            <a:off x="548640" y="374904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22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web/PageExceptionHandler.java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14800"/>
            <a:ext cx="5166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@ControllerAdvice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BookNotFoundException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@ResponseStatus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HttpStatus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handleNotFound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BookNotFoundException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addAttribute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"error/not-found"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34440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73736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and content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/books/999 (browser)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 text/html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PageExceptionHandler → error/not-found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 (curl)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 application/problem+json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ApiExceptionHandler → ProblemDetail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236208" y="3081528"/>
            <a:ext cx="5404104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14" name="Image 0" descr="/home/claude/deck/img/i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3108960"/>
            <a:ext cx="5349240" cy="21031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63640" y="5303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carries @Controller, so the API advice gets @Order(HIGHEST_PRECEDENCE) to win for REST controllers.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 — an ISBN with a valid check digit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40080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web/IsbnValidator.java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6080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IsbnValidator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ConstraintValidator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isValid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ConstraintValidatorContext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isBlank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field is optional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10 -&gt; isValidIsbn10(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13 -&gt; isValidIsbn13(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 length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/**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-13: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1,3,1,3...;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divisible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10. */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isValidIsbn13(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13;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isDigit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'0') *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2 == 0 ? 1 : 3);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 10 ==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isValidIsbn10: weights 10..1, sum % 11 == 0, X = 10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234440"/>
          <a:ext cx="44348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— the field is 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978-0134757599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ISBN-13 (Refactoring)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978-0134757590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check digit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0-201-63361-2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ISBN-10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rejected: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3749040"/>
            <a:ext cx="4434840" cy="1828800"/>
          </a:xfrm>
          <a:prstGeom prst="roundRect">
            <a:avLst>
              <a:gd name="adj" fmla="val 3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3749040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ISBN-13: digits weighted 1, 3, 1, 3 …; the sum must be divisible by 10. ISBN-10: weights 10 … 1, sum divisible by 11, the last character may be X. Hyphens and spaces are ignored. The same @Isbn is reused on BookRequest in lab 7.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 — answers to the defence questions (1/3)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form object separate from the entity?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prevents mass assignment of server fields (id, createdAt), keeps form rules apart from storage rules, and can hold partial, invalid input while the page is redisplayed.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th:object do and what does *{title} refer to?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th:object selects the form-backing object; *{title} is a selection expression evaluated on that object — form.title.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th:field generate?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 and value (checked/selected for boxes and options) bound to the property, so the names always match the binder.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GET put an empty object into the model?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th:object and th:field need an object to read values from; without it the template fails to render.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@Valid is removed?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still happens but no constraint is checked; invalid data is saved silently.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BindingResult is moved after Model?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BindingResult must follow the validated parameter; otherwise Spring throws MethodArgumentNotValidException → 400 instead of redisplaying the form.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 — answers to the defence questions (2/3)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the error branch re-add the genre list?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per request; the redisplayed form needs ${genres} again or the drop-down is empty.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errors go? Why is nothing thrown?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BindingResult. Because it is declared right after the object, Spring hands the errors to the method so the controller decides what to show.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@NotNull vs @NotEmpty vs @NotBlank?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@NotNull: not null. @NotEmpty: not null and length &gt; 0. @NotBlank: not null and at least one non-whitespace character (strings only).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text of an error message.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= "{book.title.required}" → the validator resolves the key through Spring's MessageSource → messages_ru/en.properties for the current locale → th:errors prints it.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error vs global error? Which are yours?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error belongs to one property (title, year, isbn…); a global error to the whole object — the duplicate-book error from binding.reject().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messages.properties exist?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creates the MessageSource only if the default bundle exists; it is also the fallback for every other locale.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6 — answers to the defence questions (3/3)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language chosen?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SessionLocaleResolver keeps the locale in the session (default English); LocaleChangeInterceptor switches it when ?lang=ru or ?lang=en is present.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mandatory members of a constraint annotation?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message(), groups(), payload() — required by the Bean Validation specification for every constraint.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isValid return true for null?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responsibility: null is @NotBlank's or @NotNull's decision. The ISBN field is optional, so blank and null pass.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were the advices scoped? Without scoping?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@ControllerAdvice(annotations = Controller.class) and @RestControllerAdvice(annotations = RestController.class) with higher @Order. Unscoped, the API would answer HTML or the pages JSON.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handler wins if two match?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advice — the closest exception type; between advices — the one with higher @Order precedence.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1B5E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th:utext dangerous for user input?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unescaped HTML, so a typed &lt;script&gt; runs in other users' browsers (XSS). th:text escapes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work 7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and a mapper, 201/204/404/409, ProblemDetail, OpenAPI and Swagger UI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 — paging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6B4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>
              <a:alpha val="28000"/>
            </a:srgbClr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 of the /api/books resource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  <a:gridCol w="1554480"/>
                <a:gridCol w="3200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and URI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body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/api/books?author=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BookResponse[]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/api/books?page=&amp;size= (variant)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PageResponse&lt;BookResponse&gt;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/api/books/search?title=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BookResponse[]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+ 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/api/books/{id}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400, 404, 409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/api/books/{id}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937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9377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is application/problem+json from one ApiExceptionHandler. A repeated DELETE answers 404: the resource is gone, the server state does not change, so DELETE stays idempotent.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DTOs and the mapper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web/dto/BookRequest.java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BookRequest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120)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(1450)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(2100)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@Isbn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1050" dirty="0"/>
          </a:p>
        </p:txBody>
      </p:sp>
      <p:sp>
        <p:nvSpPr>
          <p:cNvPr id="9" name="code-bg"/>
          <p:cNvSpPr/>
          <p:nvPr/>
        </p:nvSpPr>
        <p:spPr>
          <a:xfrm>
            <a:off x="548640" y="365760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web/dto/BookResponse.java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4800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}</a:t>
            </a:r>
            <a:endParaRPr lang="en-US" sz="1050" dirty="0"/>
          </a:p>
        </p:txBody>
      </p:sp>
      <p:sp>
        <p:nvSpPr>
          <p:cNvPr id="12" name="code-bg"/>
          <p:cNvSpPr/>
          <p:nvPr/>
        </p:nvSpPr>
        <p:spPr>
          <a:xfrm>
            <a:off x="5852160" y="123444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3075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web/dto/BookMapper.java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600200"/>
            <a:ext cx="5440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toDomain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blankToNull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blankToNull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isBlank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?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operations in the controller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58368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web/BookApiController.java (excerpt)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6263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@Operation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 a book by its identifier"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"/{id}"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 or 404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@Parameter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"Identifier of the book"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"42"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201 + Location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toDomain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"/api/books/"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"/{id}"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204 or 404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@PathVariable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noContent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9" name="terminal-bg"/>
          <p:cNvSpPr/>
          <p:nvPr/>
        </p:nvSpPr>
        <p:spPr>
          <a:xfrm>
            <a:off x="7315200" y="123444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979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67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4555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valid book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1600200"/>
            <a:ext cx="3977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POST -d @valid.json …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/api/books/15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"Domain-Driven Design",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"Eric Evans",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"year": 2003,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"genre": "PROGRAMMING",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"isbn": "978-0321125217",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"2026-10-16T14:31:25.767570900Z"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rminal-bg"/>
          <p:cNvSpPr/>
          <p:nvPr/>
        </p:nvSpPr>
        <p:spPr>
          <a:xfrm>
            <a:off x="7315200" y="370332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382219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62672" y="382219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5552" y="382219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Location header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06908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…/api/books/15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BE0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"Domain-Driven Design",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"Eric Evans",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"year": 2003,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"genre": "PROGRAMMING",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"isbn": "978-0321125217",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"2026-10-16T14:31:25.767570900Z"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requests, six deliberate answers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in the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array of BookResponse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BookResponse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detail: Book not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header + the created 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/api/books/1 (first)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/api/books/1 (second)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detail: No book with id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/api/books/15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changed to 2004, createdAt 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rminal-bg"/>
          <p:cNvSpPr/>
          <p:nvPr/>
        </p:nvSpPr>
        <p:spPr>
          <a:xfrm>
            <a:off x="7315200" y="123444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7979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67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4555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1280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DELETE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160020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-i -X DELETE …/api/books/1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application/problem+json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"No book with id 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"/api/books/1",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"Book not found",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"https://api.iitu.kz/errors/book-not-found"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315200" y="4114800"/>
            <a:ext cx="4297680" cy="1280160"/>
          </a:xfrm>
          <a:prstGeom prst="roundRect">
            <a:avLst>
              <a:gd name="adj" fmla="val 428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41148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is safe; GET, PUT and DELETE are idempotent; POST is neither. 201 tells the client a resource was created and Location tells it where.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as RFC 9457 problem details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web/ApiExceptionHandler.java (excerpt)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5532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@RestControllerAdvice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RestController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HIGHEST_PRECEDENCE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ResponseEntityExceptionHandler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BookNotFoundException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ProblemDetail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handleNotFound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BookNotFoundException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ProblemDetail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ProblemDetail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forStatusAndDetail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HttpStatus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NOT_FOUND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setType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"https://api.iitu.kz/errors/book-not-found"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setTitle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 not found"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handleDuplicate → 409, handleMethodArgumentNotValid → adds "errors"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34440"/>
          <a:ext cx="5029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and Content-Type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/api/books/999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404, problem+json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handleNotFound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with an empty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 problem+json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class + our "errors"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of a book that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409, problem+json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handleDuplicate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rminal-bg"/>
          <p:cNvSpPr/>
          <p:nvPr/>
        </p:nvSpPr>
        <p:spPr>
          <a:xfrm>
            <a:off x="6583680" y="3200400"/>
            <a:ext cx="5029200" cy="2788920"/>
          </a:xfrm>
          <a:prstGeom prst="roundRect">
            <a:avLst>
              <a:gd name="adj" fmla="val 2623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48272" y="331927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31152" y="331927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14032" y="331927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bodies in full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356616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HTTP/1.1 400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"Invalid request content.",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400,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"Bad Request",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"errors": {"title":"must not be blank"}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0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HTTP/1.1 409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"detail": "A book titled «Spring in Action» by this author already exists",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"instance": "/api/books",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409,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"Duplicate title",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"…/errors/duplicate-title",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"bookTitle": "Spring in Action"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 document and Swagger UI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6272784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217920" cy="4754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40880" y="12344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without any annotation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16459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paths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their HTTP methods and parameters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BookRequest schema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required: author, genre, title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title.maxLength = 120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@Size(max = 120)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minimum/maximum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@Min(1450) / @Max(2100)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6576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with annotations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0690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@Tag, @Operation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and the "Books" group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@ApiResponse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of 200/201/400/404/409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@Parameter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and example = 42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/v3/api-docs and /swagger-ui.html; to be switched off in production: springdoc.swagger-ui.enabled=false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 — paging of the collection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code-bg"/>
          <p:cNvSpPr/>
          <p:nvPr/>
        </p:nvSpPr>
        <p:spPr>
          <a:xfrm>
            <a:off x="548640" y="1234440"/>
            <a:ext cx="6400800" cy="4754880"/>
          </a:xfrm>
          <a:prstGeom prst="roundRect">
            <a:avLst>
              <a:gd name="adj" fmla="val 1538"/>
            </a:avLst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07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web/BookApiController.java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6080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A8D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D87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200 or 400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@RequestParam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3B6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(500)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?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pagination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totalPages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DB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PageResponse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toResponseList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effectiveSize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totalPages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234440"/>
          <a:ext cx="4434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"/>
                <a:gridCol w="457200"/>
                <a:gridCol w="457200"/>
                <a:gridCol w="502920"/>
                <a:gridCol w="548640"/>
                <a:gridCol w="502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0, size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2, size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0, default size, no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5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-1 (invalid)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3794760"/>
            <a:ext cx="4434840" cy="2194560"/>
          </a:xfrm>
          <a:prstGeom prst="roundRect">
            <a:avLst>
              <a:gd name="adj" fmla="val 25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3794760"/>
            <a:ext cx="4069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handler is chosen by params = "page". Without size the default comes from app.pagination.default-size — the variant setting of lab 3 — and max-size caps it. page = -1 breaks @Min(0) and gives 400 from built-in method validation.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— answers to the defence questions (1/4)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URI a noun? What is wrong with /api/getBooks?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URI names the resource; the HTTP method is the verb. /api/getBooks duplicates the verb and breaks the uniform interface.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endpoints are safe and which idempotent?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GET (nothing changes). Idempotent: GET, PUT, DELETE. POST is neither.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201 for creation? What does Location give?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tells the client a resource was created; Location gives its URI so the client can follow it without building URLs.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deletion return 204, not 200?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meaningful is left to return; 204 No Content says success with an empty body.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second DELETE answer and why?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as a problem detail. The resource is gone; the server state stays the same, so DELETE is still idempotent.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vs PATCH for a field missing from the body?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replaces the whole resource — a missing field is reset/validated as empty; PATCH would leave it unchanged.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— answers to the defence questions (2/4)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DTO? Three problems with returning the entity?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object for the API contract. With the entity: internal fields leak, clients could set id/createdAt (mass assignment), and renaming storage breaks clients.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request and response DTOs?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contains only what a client may send (no id, no createdAt); the response contains what the contract promises.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mapper live? Why not in the controller?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BookMapper, a @Component in web.dto — the one place that knows both shapes; the controller only orchestrates.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Unparsable body vs valid JSON breaking a rule?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400: HttpMessageNotReadableException for broken JSON, MethodArgumentNotValidException for a rule violation.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409? Why not 400?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valid, but conflicts with server state — the same title by the same author already exists.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RFC defines ProblemDetail? Five fields?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9457 (replaces 7807): type, title, status, detail, instance.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— answers to the defence questions (3/4)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 of an error response and who sets it?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application/problem+json, set by Spring's message converter when the body is a ProblemDetail.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ResponseEntityExceptionHandler give?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ProblemDetail responses for all standard MVC exceptions: 400 validation and parsing, 404, 405, 406, 415 and more.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advice scoped? Lab 6 pages without it?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@RestControllerAdvice(annotations = RestController.class). Without it the HTML pages would receive JSON problem details.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44768" y="292608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81928" y="305409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a stack trace never be in a body?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7472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reveals classes, libraries and versions to attackers and is useless to the client; it belongs in the server log.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 OpenAPI was generated without annotations?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HTTP methods, parameters, request/response schemas from the records, and constraints such as required and maxLength.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44768" y="461772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74573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maxLength of title come from?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516636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@Size(max = 120) on BookRequest.title — springdoc translates Bean Validation constraints into the schema.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7 — answers to the defence questions (4/4)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URLs of the document and Swagger UI?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/v3/api-docs and /swagger-ui.html (redirects to /swagger-ui/index.html).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234440"/>
            <a:ext cx="5440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81928" y="1362456"/>
            <a:ext cx="384048" cy="384048"/>
          </a:xfrm>
          <a:prstGeom prst="rect">
            <a:avLst/>
          </a:prstGeom>
          <a:solidFill>
            <a:srgbClr val="6B4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leave Swagger UI on a public server?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783080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exposes the whole attack surface and lets anyone send requests. Disable it in prod: springdoc.swagger-ui.enabled=false and springdoc.api-docs.enabled=false, or protect it with security.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application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Lab Library — every lab in one site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pages, a validated form in two languages, a documented REST API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3B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rk1 of github.com/Alilishka3/spring-lab-01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400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B58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543800" y="2208276"/>
            <a:ext cx="480060" cy="2208276"/>
          </a:xfrm>
          <a:prstGeom prst="rect">
            <a:avLst/>
          </a:prstGeom>
          <a:solidFill>
            <a:srgbClr val="2B4C7E">
              <a:alpha val="28000"/>
            </a:srgbClr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6652" y="2208276"/>
            <a:ext cx="67208" cy="2208276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232349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8110271" y="2496312"/>
            <a:ext cx="480060" cy="1920240"/>
          </a:xfrm>
          <a:prstGeom prst="rect">
            <a:avLst/>
          </a:prstGeom>
          <a:solidFill>
            <a:srgbClr val="8C2F39">
              <a:alpha val="28000"/>
            </a:srgbClr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23122" y="2496312"/>
            <a:ext cx="67208" cy="192024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0271" y="261152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8676742" y="2064258"/>
            <a:ext cx="480060" cy="2352294"/>
          </a:xfrm>
          <a:prstGeom prst="rect">
            <a:avLst/>
          </a:prstGeom>
          <a:solidFill>
            <a:srgbClr val="2F6F5E">
              <a:alpha val="28000"/>
            </a:srgbClr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89593" y="2064258"/>
            <a:ext cx="67208" cy="235229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76742" y="217947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9243212" y="2352294"/>
            <a:ext cx="480060" cy="2064258"/>
          </a:xfrm>
          <a:prstGeom prst="rect">
            <a:avLst/>
          </a:prstGeom>
          <a:solidFill>
            <a:srgbClr val="5B3F86">
              <a:alpha val="28000"/>
            </a:srgbClr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2352294"/>
            <a:ext cx="67208" cy="2064258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43212" y="246750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09683" y="2160270"/>
            <a:ext cx="480060" cy="2256282"/>
          </a:xfrm>
          <a:prstGeom prst="rect">
            <a:avLst/>
          </a:prstGeom>
          <a:solidFill>
            <a:srgbClr val="9A6B1F">
              <a:alpha val="28000"/>
            </a:srgbClr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22535" y="2160270"/>
            <a:ext cx="67208" cy="225628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09683" y="227548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10376154" y="2544318"/>
            <a:ext cx="480060" cy="1872234"/>
          </a:xfrm>
          <a:prstGeom prst="rect">
            <a:avLst/>
          </a:prstGeom>
          <a:solidFill>
            <a:srgbClr val="1B5E4A">
              <a:alpha val="28000"/>
            </a:srgbClr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006" y="2544318"/>
            <a:ext cx="67208" cy="1872234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76154" y="265953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0942625" y="2256282"/>
            <a:ext cx="480060" cy="2160270"/>
          </a:xfrm>
          <a:prstGeom prst="rect">
            <a:avLst/>
          </a:prstGeom>
          <a:solidFill>
            <a:srgbClr val="6B4E2E">
              <a:alpha val="28000"/>
            </a:srgbClr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55476" y="2256282"/>
            <a:ext cx="67208" cy="2160270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42625" y="237149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509096" y="1968246"/>
            <a:ext cx="480060" cy="2448306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1947" y="1968246"/>
            <a:ext cx="67208" cy="244830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509096" y="208346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41655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final application is built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EEF1F4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53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form, start 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2130552"/>
            <a:ext cx="274320" cy="164592"/>
          </a:xfrm>
          <a:prstGeom prst="downArrow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04288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— controllers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15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BookPageController · BookApiController · Hello/Lab2/Lab3/Catalog controllers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3154680"/>
            <a:ext cx="274320" cy="164592"/>
          </a:xfrm>
          <a:prstGeom prst="downArrow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28416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— boundary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7398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BookForm, BookRequest/Response, BookMapper, Page/ApiExceptionHandler, LocaleConfiguration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94760" y="4178808"/>
            <a:ext cx="274320" cy="164592"/>
          </a:xfrm>
          <a:prstGeom prst="downArrow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52544"/>
            <a:ext cx="6766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256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— domain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640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Genre, BookService, BookRepository (in-memory)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128016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5B3F86"/>
          </a:solidFill>
          <a:ln w="12700">
            <a:solidFill>
              <a:srgbClr val="5B3F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AOP (lab 4)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17556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timing, audit, call counter around service/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35240" y="265176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(lab 3)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31272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application.yml, dev/prod, AppProperties, Actuator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35240" y="402336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4133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IoC (lab 2)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44988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notifiers, life cycle, scopes, container report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4.1.1 · Java 25 · Thymeleaf · Bean Validation · Actuator · springdoc-openapi 3.1.1 — run with mvnw spring-boot:run, open http://localhost:8080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page: every lab is one click away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7370064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315200" cy="4754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92440" y="1325880"/>
            <a:ext cx="3520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page (lab 5)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from static/index.html without a controller.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shelf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drawn by JavaScript from GET /api/books — the REST API of lab 7.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the project grew"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labs 1–7 with links to their live endpoints.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catalogue: filters, the shelf and all records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7278624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223760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19288" y="1207008"/>
            <a:ext cx="3621024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9" name="Image 1" descr="/home/claude/deck/img/i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234440"/>
            <a:ext cx="3566160" cy="2286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0" y="3611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?genre=NOVEL — the filters are plain GET parameters, so a filtered catalogue has its own URL.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43891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author, title fragment and genre in one form.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shelf: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spine per book, coloured by genre, linking to the book page.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 as a table with ISBNs.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page, editing and the validated form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21208" y="1207008"/>
            <a:ext cx="554126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7" name="Image 0" descr="/home/claude/deck/img/i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44768" y="1207008"/>
            <a:ext cx="549554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E0"/>
            </a:solidFill>
            <a:prstDash val="solid"/>
          </a:ln>
          <a:effectLst>
            <a:outerShdw sx="100000" sy="100000" kx="0" ky="0" algn="bl" rotWithShape="0" blurRad="76200" dist="25400" dir="5400000">
              <a:srgbClr val="17233B">
                <a:alpha val="18000"/>
              </a:srgbClr>
            </a:outerShdw>
          </a:effectLst>
        </p:spPr>
      </p:sp>
      <p:pic>
        <p:nvPicPr>
          <p:cNvPr id="9" name="Image 1" descr="/home/claude/deck/img/i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40680" cy="2743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2062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page: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in the genre colour, ISBN, creation time, link to the same record as JSON.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Delete: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of lab 6 is reused for editing (GET/POST /books/{id}/edit); delete is a POST followed by a redirect.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caption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messages.properties / messages_ru.properties, switched with EN / RU in the header.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in Git: one branch per lab</a:t>
            </a:r>
            <a:endParaRPr lang="en-US" sz="2800" dirty="0"/>
          </a:p>
        </p:txBody>
      </p:sp>
      <p:sp>
        <p:nvSpPr>
          <p:cNvPr id="3" name="spine-tag"/>
          <p:cNvSpPr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28832" y="274320"/>
            <a:ext cx="64008" cy="786384"/>
          </a:xfrm>
          <a:prstGeom prst="rect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274320"/>
            <a:ext cx="384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terminal-bg"/>
          <p:cNvSpPr/>
          <p:nvPr/>
        </p:nvSpPr>
        <p:spPr>
          <a:xfrm>
            <a:off x="548640" y="1234440"/>
            <a:ext cx="6949440" cy="4754880"/>
          </a:xfrm>
          <a:prstGeom prst="roundRect">
            <a:avLst>
              <a:gd name="adj" fmla="val 1538"/>
            </a:avLst>
          </a:prstGeom>
          <a:solidFill>
            <a:srgbClr val="10151F"/>
          </a:solidFill>
          <a:ln w="12700">
            <a:solidFill>
              <a:srgbClr val="1015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353312"/>
            <a:ext cx="100584" cy="100584"/>
          </a:xfrm>
          <a:prstGeom prst="ellipse">
            <a:avLst/>
          </a:prstGeom>
          <a:solidFill>
            <a:srgbClr val="F08A80"/>
          </a:solidFill>
          <a:ln w="12700">
            <a:solidFill>
              <a:srgbClr val="F08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53312"/>
            <a:ext cx="100584" cy="100584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1353312"/>
            <a:ext cx="100584" cy="100584"/>
          </a:xfrm>
          <a:prstGeom prst="ellipse">
            <a:avLst/>
          </a:prstGeom>
          <a:solidFill>
            <a:srgbClr val="7FC4A8"/>
          </a:solidFill>
          <a:ln w="12700">
            <a:solidFill>
              <a:srgbClr val="7FC4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12801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--graph --all (excerpt)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00200"/>
            <a:ext cx="6629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3c472d2 rk1: no horizontal overflow on phones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8f3831b rk1: form errors inside th:object, no fallback to the OS locale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c4c1ca8 rk1: final site — layout, shelf, book page, edit/delete, i18n everywhere, 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f10a547 (lab07) lab07: REST API with DTOs and mapper, problem details, OpenAPI/Swagger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2801ae4 (lab06) lab06: form binding, validation, i18n, controller advice; variant 1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0817e41 (lab05) lab05: REST and MVC controllers, model, view, static resources; varian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24c04c7 merge lab02/lab03 into the main line: ReversedNotifier, YAML config, profile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a19a89d lab03: individual assignment variant 2 (app.pagination)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033d501 lab03: YAML config, profiles, typed properties, actuator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f0c26a9 lab02: final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  5449e38 merge lab01: /api/reverse endpoint (variant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 \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| 6f4f853 lab01: add /api/reverse endpoint for individual assignment (variant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| 4477f03 (lab04) lab04: self-invocation fix and call counter aspect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| 936ea12 lab04: logging, timing and audit aspects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| |   7842d69 (main) Merge pull request #2 from Alilishka3/lab02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|\ \ \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|/ /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|/| /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|/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* 8811202 lab02: IoC container, DI, scopes and bean lifecycle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|/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30d832d lab01: generated Spring Boot project skeleton</a:t>
            </a:r>
            <a:endParaRPr lang="en-US" sz="95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234440"/>
          <a:ext cx="3886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23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lab01 … lab04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1–4 (pushed earlier, PR #2 merged)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lab05, lab06, lab07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5–7, one commit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labs + the final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726680" y="3337560"/>
            <a:ext cx="3886200" cy="1280160"/>
          </a:xfrm>
          <a:prstGeom prst="roundRect">
            <a:avLst>
              <a:gd name="adj" fmla="val 4286"/>
            </a:avLst>
          </a:prstGeom>
          <a:solidFill>
            <a:srgbClr val="E2F0EA"/>
          </a:solidFill>
          <a:ln w="12700">
            <a:solidFill>
              <a:srgbClr val="E2F0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33375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github.com/Alilishka3/spring-lab-01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mvnw.cmd spring-boot:run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open http://localhost:8080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does the wiring.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injection, @Primary/@Qualifier and scopes made dependencies explicit and testable (labs 1–2).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lives outside the code.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JAR runs in dev and prod; wrong values stop the start, and Actuator shows where each value came from (lab 3).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code went into aspects.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timing, auditing and counting touch no business method; the proxy explains why self-calls need care (lab 4).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layer speaks HTTP precisely.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and API share one service; every outcome has its own status, validation is declarative and errors are problem details (labs 5–7).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2391156"/>
            <a:ext cx="480060" cy="2208276"/>
          </a:xfrm>
          <a:prstGeom prst="rect">
            <a:avLst/>
          </a:prstGeom>
          <a:solidFill>
            <a:srgbClr val="2B4C7E"/>
          </a:solidFill>
          <a:ln w="12700">
            <a:solidFill>
              <a:srgbClr val="2B4C7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3812" y="2391156"/>
            <a:ext cx="67208" cy="220827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0" y="250637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8247431" y="2679192"/>
            <a:ext cx="480060" cy="1920240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60282" y="2679192"/>
            <a:ext cx="67208" cy="192024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47431" y="279440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8813902" y="2247138"/>
            <a:ext cx="480060" cy="2352294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26753" y="2247138"/>
            <a:ext cx="67208" cy="235229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13902" y="236235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380372" y="2535174"/>
            <a:ext cx="480060" cy="2064258"/>
          </a:xfrm>
          <a:prstGeom prst="rect">
            <a:avLst/>
          </a:prstGeom>
          <a:solidFill>
            <a:srgbClr val="5B3F86"/>
          </a:solidFill>
          <a:ln w="12700">
            <a:solidFill>
              <a:srgbClr val="5B3F8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93224" y="2535174"/>
            <a:ext cx="67208" cy="206425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80372" y="2650388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9946843" y="2343150"/>
            <a:ext cx="480060" cy="2256282"/>
          </a:xfrm>
          <a:prstGeom prst="rect">
            <a:avLst/>
          </a:prstGeom>
          <a:solidFill>
            <a:srgbClr val="9A6B1F"/>
          </a:solidFill>
          <a:ln w="12700">
            <a:solidFill>
              <a:srgbClr val="9A6B1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59695" y="2343150"/>
            <a:ext cx="67208" cy="2256282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46843" y="2458364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0513314" y="2727198"/>
            <a:ext cx="480060" cy="1872234"/>
          </a:xfrm>
          <a:prstGeom prst="rect">
            <a:avLst/>
          </a:prstGeom>
          <a:solidFill>
            <a:srgbClr val="1B5E4A"/>
          </a:solidFill>
          <a:ln w="12700">
            <a:solidFill>
              <a:srgbClr val="1B5E4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6166" y="2727198"/>
            <a:ext cx="67208" cy="1872234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3314" y="2842412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11079785" y="2439162"/>
            <a:ext cx="480060" cy="2160270"/>
          </a:xfrm>
          <a:prstGeom prst="rect">
            <a:avLst/>
          </a:prstGeom>
          <a:solidFill>
            <a:srgbClr val="6B4E2E"/>
          </a:solidFill>
          <a:ln w="12700">
            <a:solidFill>
              <a:srgbClr val="6B4E2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92636" y="2439162"/>
            <a:ext cx="67208" cy="216027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079785" y="2554376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1646256" y="2151126"/>
            <a:ext cx="480060" cy="2448306"/>
          </a:xfrm>
          <a:prstGeom prst="rect">
            <a:avLst/>
          </a:prstGeom>
          <a:solidFill>
            <a:srgbClr val="B5892F"/>
          </a:solidFill>
          <a:ln w="12700">
            <a:solidFill>
              <a:srgbClr val="B5892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59107" y="2151126"/>
            <a:ext cx="67208" cy="2448306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646256" y="2266340"/>
            <a:ext cx="480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88936" y="4599432"/>
            <a:ext cx="4829404" cy="134417"/>
          </a:xfrm>
          <a:prstGeom prst="rect">
            <a:avLst/>
          </a:prstGeom>
          <a:solidFill>
            <a:srgbClr val="5B4632"/>
          </a:solidFill>
          <a:ln w="12700">
            <a:solidFill>
              <a:srgbClr val="5B46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5120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3B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ring Lab Library">
  <a:themeElements>
    <a:clrScheme name="Spring Lab Library">
      <a:dk1>
        <a:srgbClr val="17233B"/>
      </a:dk1>
      <a:lt1>
        <a:srgbClr val="FFFFFF"/>
      </a:lt1>
      <a:dk2>
        <a:srgbClr val="1B5E4A"/>
      </a:dk2>
      <a:lt2>
        <a:srgbClr val="ECEFF1"/>
      </a:lt2>
      <a:accent1>
        <a:srgbClr val="1B5E4A"/>
      </a:accent1>
      <a:accent2>
        <a:srgbClr val="B5892F"/>
      </a:accent2>
      <a:accent3>
        <a:srgbClr val="2B4C7E"/>
      </a:accent3>
      <a:accent4>
        <a:srgbClr val="8C2F39"/>
      </a:accent4>
      <a:accent5>
        <a:srgbClr val="5B3F86"/>
      </a:accent5>
      <a:accent6>
        <a:srgbClr val="9A6B1F"/>
      </a:accent6>
      <a:hlink>
        <a:srgbClr val="1B5E4A"/>
      </a:hlink>
      <a:folHlink>
        <a:srgbClr val="5B3F86"/>
      </a:folHlink>
    </a:clrScheme>
    <a:fontScheme name="Spring Lab Libra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IITU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RWPSF 3305 — Midterm report: laboratory works 1–7</dc:title>
  <dc:subject>PptxGenJS Presentation</dc:subject>
  <dc:creator>Altai Ali</dc:creator>
  <cp:lastModifiedBy>Altai Ali</cp:lastModifiedBy>
  <cp:revision>1</cp:revision>
  <dcterms:created xsi:type="dcterms:W3CDTF">2026-10-16T14:51:16Z</dcterms:created>
  <dcterms:modified xsi:type="dcterms:W3CDTF">2026-10-16T14:51:16Z</dcterms:modified>
</cp:coreProperties>
</file>