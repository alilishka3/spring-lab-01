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66928"/>
            <a:ext cx="10789920" cy="822960"/>
          </a:xfrm>
          <a:prstGeom prst="rect">
            <a:avLst/>
          </a:prstGeom>
          <a:noFill/>
          <a:ln/>
        </p:spPr>
        <p:txBody>
          <a:bodyPr wrap="square" rtlCol="0"/>
          <a:lstStyle>
            <a:lvl1pPr algn="l" indent="0" marL="0">
              <a:buNone/>
              <a:defRPr lang="en-US" sz="3200" b="1" dirty="0">
                <a:solidFill>
                  <a:srgbClr val="14213D"/>
                </a:solidFill>
                <a:latin typeface="Georgia" pitchFamily="34" charset="0"/>
                <a:ea typeface="Georgia" pitchFamily="34" charset="-122"/>
                <a:cs typeface="Georgia" pitchFamily="34" charset="-120"/>
              </a:defRPr>
            </a:lvl1pPr>
          </a:lstStyle>
          <a:p>
            <a:pPr algn="l" indent="0" marL="0">
              <a:buNone/>
            </a:pPr>
            <a:endParaRPr lang="en-US" sz="3200" dirty="0"/>
          </a:p>
        </p:txBody>
      </p:sp>
      <p:sp>
        <p:nvSpPr>
          <p:cNvPr id="3" name="Shape 0"/>
          <p:cNvSpPr/>
          <p:nvPr/>
        </p:nvSpPr>
        <p:spPr>
          <a:xfrm>
            <a:off x="685800" y="6355080"/>
            <a:ext cx="10817352" cy="0"/>
          </a:xfrm>
          <a:prstGeom prst="line">
            <a:avLst/>
          </a:prstGeom>
          <a:noFill/>
          <a:ln w="9525">
            <a:solidFill>
              <a:srgbClr val="D9DEE6"/>
            </a:solidFill>
            <a:prstDash val="solid"/>
          </a:ln>
        </p:spPr>
      </p:sp>
      <p:sp>
        <p:nvSpPr>
          <p:cNvPr id="4" name="Text 1"/>
          <p:cNvSpPr/>
          <p:nvPr/>
        </p:nvSpPr>
        <p:spPr>
          <a:xfrm>
            <a:off x="685800" y="6419088"/>
            <a:ext cx="5486400" cy="256032"/>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Altai Ali, Kalmyrza Gulim · RWPSF 3305</a:t>
            </a:r>
            <a:endParaRPr lang="en-US" sz="1000" dirty="0"/>
          </a:p>
        </p:txBody>
      </p:sp>
      <p:sp>
        <p:nvSpPr>
          <p:cNvPr id="25" name="Slide Number Placeholder 0"/>
          <p:cNvSpPr>
            <a:spLocks noGrp="1"/>
          </p:cNvSpPr>
          <p:nvPr>
            <p:ph type="sldNum" sz="quarter" idx="4294967295"/>
          </p:nvPr>
        </p:nvSpPr>
        <p:spPr>
          <a:xfrm>
            <a:off x="1106424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31520"/>
            <a:ext cx="5486400" cy="320040"/>
          </a:xfrm>
          <a:prstGeom prst="rect">
            <a:avLst/>
          </a:prstGeom>
          <a:noFill/>
          <a:ln/>
        </p:spPr>
        <p:txBody>
          <a:bodyPr wrap="square" lIns="0" tIns="0" rIns="0" bIns="0" rtlCol="0" anchor="ctr"/>
          <a:lstStyle/>
          <a:p>
            <a:pPr indent="0" marL="0">
              <a:buNone/>
            </a:pPr>
            <a:r>
              <a:rPr lang="en-US" sz="1500" dirty="0">
                <a:solidFill>
                  <a:srgbClr val="AEB8CC"/>
                </a:solidFill>
                <a:latin typeface="Calibri" pitchFamily="34" charset="0"/>
                <a:ea typeface="Calibri" pitchFamily="34" charset="-122"/>
                <a:cs typeface="Calibri" pitchFamily="34" charset="-120"/>
              </a:rPr>
              <a:t>RWPSF 3305, midterm</a:t>
            </a:r>
            <a:endParaRPr lang="en-US" sz="1500" dirty="0"/>
          </a:p>
        </p:txBody>
      </p:sp>
      <p:sp>
        <p:nvSpPr>
          <p:cNvPr id="3" name="Shape 1"/>
          <p:cNvSpPr/>
          <p:nvPr/>
        </p:nvSpPr>
        <p:spPr>
          <a:xfrm>
            <a:off x="731520" y="1938528"/>
            <a:ext cx="5394960" cy="128016"/>
          </a:xfrm>
          <a:prstGeom prst="rect">
            <a:avLst/>
          </a:prstGeom>
          <a:solidFill>
            <a:srgbClr val="FFD54A"/>
          </a:solidFill>
          <a:ln w="12700">
            <a:solidFill>
              <a:srgbClr val="FFD54A"/>
            </a:solidFill>
            <a:prstDash val="solid"/>
          </a:ln>
        </p:spPr>
      </p:sp>
      <p:sp>
        <p:nvSpPr>
          <p:cNvPr id="4" name="Text 2"/>
          <p:cNvSpPr txBox="1"/>
          <p:nvPr/>
        </p:nvSpPr>
        <p:spPr>
          <a:xfrm>
            <a:off x="731520" y="1280160"/>
            <a:ext cx="5943600" cy="73152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Spring Lab Library</a:t>
            </a:r>
            <a:endParaRPr lang="en-US" sz="4200" dirty="0"/>
          </a:p>
        </p:txBody>
      </p:sp>
      <p:sp>
        <p:nvSpPr>
          <p:cNvPr id="5" name="Text 3"/>
          <p:cNvSpPr txBox="1"/>
          <p:nvPr/>
        </p:nvSpPr>
        <p:spPr>
          <a:xfrm>
            <a:off x="731520" y="2606040"/>
            <a:ext cx="5120640" cy="1005840"/>
          </a:xfrm>
          <a:prstGeom prst="rect">
            <a:avLst/>
          </a:prstGeom>
          <a:noFill/>
          <a:ln/>
        </p:spPr>
        <p:txBody>
          <a:bodyPr wrap="square" lIns="0" tIns="0" rIns="0" bIns="0" rtlCol="0" anchor="ctr"/>
          <a:lstStyle/>
          <a:p>
            <a:pPr indent="0" marL="0">
              <a:buNone/>
            </a:pPr>
            <a:r>
              <a:rPr lang="en-US" sz="1900" dirty="0">
                <a:solidFill>
                  <a:srgbClr val="DCE2EE"/>
                </a:solidFill>
                <a:latin typeface="Calibri" pitchFamily="34" charset="0"/>
                <a:ea typeface="Calibri" pitchFamily="34" charset="-122"/>
                <a:cs typeface="Calibri" pitchFamily="34" charset="-120"/>
              </a:rPr>
              <a:t>Seven lab works that grew into one small book catalogue, with a website and a REST API.</a:t>
            </a:r>
            <a:endParaRPr lang="en-US" sz="1900" dirty="0"/>
          </a:p>
        </p:txBody>
      </p:sp>
      <p:sp>
        <p:nvSpPr>
          <p:cNvPr id="6" name="Text 4"/>
          <p:cNvSpPr txBox="1"/>
          <p:nvPr/>
        </p:nvSpPr>
        <p:spPr>
          <a:xfrm>
            <a:off x="731520" y="4663440"/>
            <a:ext cx="5029200" cy="128016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Altai Ali, Kalmyrza Gulim</a:t>
            </a:r>
            <a:endParaRPr lang="en-US" sz="1600" dirty="0"/>
          </a:p>
          <a:p>
            <a:pPr indent="0" marL="0">
              <a:spcAft>
                <a:spcPts val="400"/>
              </a:spcAft>
              <a:buNone/>
            </a:pPr>
            <a:r>
              <a:rPr lang="en-US" sz="1600" dirty="0">
                <a:solidFill>
                  <a:srgbClr val="AEB8CC"/>
                </a:solidFill>
                <a:latin typeface="Calibri" pitchFamily="34" charset="0"/>
                <a:ea typeface="Calibri" pitchFamily="34" charset="-122"/>
                <a:cs typeface="Calibri" pitchFamily="34" charset="-120"/>
              </a:rPr>
              <a:t>IT1-2409IS, IITU</a:t>
            </a:r>
            <a:endParaRPr lang="en-US" sz="1600" dirty="0"/>
          </a:p>
          <a:p>
            <a:pPr indent="0" marL="0">
              <a:spcAft>
                <a:spcPts val="400"/>
              </a:spcAft>
              <a:buNone/>
            </a:pPr>
            <a:r>
              <a:rPr lang="en-US" sz="1600" dirty="0">
                <a:solidFill>
                  <a:srgbClr val="AEB8CC"/>
                </a:solidFill>
                <a:latin typeface="Calibri" pitchFamily="34" charset="0"/>
                <a:ea typeface="Calibri" pitchFamily="34" charset="-122"/>
                <a:cs typeface="Calibri" pitchFamily="34" charset="-120"/>
              </a:rPr>
              <a:t>Lecturer: Yemberdiyeva Aknur</a:t>
            </a:r>
            <a:endParaRPr lang="en-US" sz="1600" dirty="0"/>
          </a:p>
        </p:txBody>
      </p:sp>
      <p:pic>
        <p:nvPicPr>
          <p:cNvPr id="7" name="Image 0" descr="/home/claude/deck/img/v1.png">    </p:cNvPr>
          <p:cNvPicPr>
            <a:picLocks noChangeAspect="1"/>
          </p:cNvPicPr>
          <p:nvPr/>
        </p:nvPicPr>
        <p:blipFill>
          <a:blip r:embed="rId1"/>
          <a:stretch>
            <a:fillRect/>
          </a:stretch>
        </p:blipFill>
        <p:spPr>
          <a:xfrm rot="180000">
            <a:off x="6720840" y="1051560"/>
            <a:ext cx="4754880" cy="3108960"/>
          </a:xfrm>
          <a:prstGeom prst="rect">
            <a:avLst/>
          </a:prstGeom>
          <a:effectLst>
            <a:outerShdw sx="100000" sy="100000" kx="0" ky="0" algn="bl" rotWithShape="0" blurRad="127000" dist="50800" dir="5400000">
              <a:srgbClr val="14213D">
                <a:alpha val="22000"/>
              </a:srgbClr>
            </a:outerShdw>
          </a:effectLst>
        </p:spPr>
      </p:pic>
      <p:pic>
        <p:nvPicPr>
          <p:cNvPr id="8" name="Image 1" descr="/home/claude/deck/img/v2.png">    </p:cNvPr>
          <p:cNvPicPr>
            <a:picLocks noChangeAspect="1"/>
          </p:cNvPicPr>
          <p:nvPr/>
        </p:nvPicPr>
        <p:blipFill>
          <a:blip r:embed="rId2"/>
          <a:stretch>
            <a:fillRect/>
          </a:stretch>
        </p:blipFill>
        <p:spPr>
          <a:xfrm rot="-240000">
            <a:off x="6263640" y="3794760"/>
            <a:ext cx="3566160" cy="2148840"/>
          </a:xfrm>
          <a:prstGeom prst="rect">
            <a:avLst/>
          </a:prstGeom>
          <a:effectLst>
            <a:outerShdw sx="100000" sy="100000" kx="0" ky="0" algn="bl" rotWithShape="0" blurRad="127000" dist="50800" dir="5400000">
              <a:srgbClr val="14213D">
                <a:alpha val="22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85800" y="274320"/>
            <a:ext cx="905256" cy="237744"/>
          </a:xfrm>
          <a:prstGeom prst="rect">
            <a:avLst/>
          </a:prstGeom>
          <a:solidFill>
            <a:srgbClr val="FFD54A"/>
          </a:solidFill>
          <a:ln w="12700">
            <a:solidFill>
              <a:srgbClr val="FFD54A"/>
            </a:solidFill>
            <a:prstDash val="solid"/>
          </a:ln>
        </p:spPr>
      </p:sp>
      <p:sp>
        <p:nvSpPr>
          <p:cNvPr id="3" name="Text 1"/>
          <p:cNvSpPr txBox="1"/>
          <p:nvPr/>
        </p:nvSpPr>
        <p:spPr>
          <a:xfrm>
            <a:off x="685800" y="274320"/>
            <a:ext cx="905256" cy="237744"/>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Overview</a:t>
            </a:r>
            <a:endParaRPr lang="en-US" sz="1100" dirty="0"/>
          </a:p>
        </p:txBody>
      </p:sp>
      <p:sp>
        <p:nvSpPr>
          <p:cNvPr id="4" name="Text 0"/>
          <p:cNvSpPr/>
          <p:nvPr>
            <p:ph idx="100" type="title" hasCustomPrompt="1"/>
          </p:nvPr>
        </p:nvSpPr>
        <p:spPr>
          <a:xfrm>
            <a:off x="685800" y="566928"/>
            <a:ext cx="10789920" cy="822960"/>
          </a:xfrm>
          <a:prstGeom prst="rect">
            <a:avLst/>
          </a:prstGeom>
          <a:noFill/>
          <a:ln/>
        </p:spPr>
        <p:txBody>
          <a:bodyPr wrap="square" lIns="0" tIns="0" rIns="0" bIns="0" rtlCol="0" anchor="t"/>
          <a:lstStyle/>
          <a:p>
            <a:pPr algn="l" indent="0" marL="0">
              <a:buNone/>
            </a:pPr>
            <a:r>
              <a:rPr lang="en-US" sz="3200" b="1" dirty="0">
                <a:solidFill>
                  <a:srgbClr val="14213D"/>
                </a:solidFill>
                <a:latin typeface="Georgia" pitchFamily="34" charset="0"/>
                <a:ea typeface="Georgia" pitchFamily="34" charset="-122"/>
                <a:cs typeface="Georgia" pitchFamily="34" charset="-120"/>
              </a:rPr>
              <a:t>One project, seven steps</a:t>
            </a:r>
            <a:endParaRPr lang="en-US" sz="3200" dirty="0"/>
          </a:p>
        </p:txBody>
      </p:sp>
      <p:sp>
        <p:nvSpPr>
          <p:cNvPr id="5" name="Text 3"/>
          <p:cNvSpPr txBox="1"/>
          <p:nvPr/>
        </p:nvSpPr>
        <p:spPr>
          <a:xfrm>
            <a:off x="685800" y="1417320"/>
            <a:ext cx="10789920" cy="457200"/>
          </a:xfrm>
          <a:prstGeom prst="rect">
            <a:avLst/>
          </a:prstGeom>
          <a:noFill/>
          <a:ln/>
        </p:spPr>
        <p:txBody>
          <a:bodyPr wrap="square" lIns="0" tIns="0" rIns="0" bIns="0" rtlCol="0" anchor="t"/>
          <a:lstStyle/>
          <a:p>
            <a:pPr indent="0" marL="0">
              <a:lnSpc>
                <a:spcPct val="108000"/>
              </a:lnSpc>
              <a:spcAft>
                <a:spcPts val="800"/>
              </a:spcAft>
              <a:buNone/>
            </a:pPr>
            <a:r>
              <a:rPr lang="en-US" sz="1700" dirty="0">
                <a:solidFill>
                  <a:srgbClr val="4A5568"/>
                </a:solidFill>
                <a:latin typeface="Calibri" pitchFamily="34" charset="0"/>
                <a:ea typeface="Calibri" pitchFamily="34" charset="-122"/>
                <a:cs typeface="Calibri" pitchFamily="34" charset="-120"/>
              </a:rPr>
              <a:t>Every lab added a layer to the same app (spring-lab-01, Spring Boot 4.1, Java 25) instead of starting over.</a:t>
            </a:r>
            <a:endParaRPr lang="en-US" sz="1700" dirty="0"/>
          </a:p>
        </p:txBody>
      </p:sp>
      <p:sp>
        <p:nvSpPr>
          <p:cNvPr id="6" name="Shape 4"/>
          <p:cNvSpPr/>
          <p:nvPr/>
        </p:nvSpPr>
        <p:spPr>
          <a:xfrm>
            <a:off x="1188720" y="2926080"/>
            <a:ext cx="10040112" cy="0"/>
          </a:xfrm>
          <a:prstGeom prst="line">
            <a:avLst/>
          </a:prstGeom>
          <a:noFill/>
          <a:ln w="19050">
            <a:solidFill>
              <a:srgbClr val="14213D"/>
            </a:solidFill>
            <a:prstDash val="solid"/>
          </a:ln>
        </p:spPr>
      </p:sp>
      <p:sp>
        <p:nvSpPr>
          <p:cNvPr id="7" name="Shape 5"/>
          <p:cNvSpPr/>
          <p:nvPr/>
        </p:nvSpPr>
        <p:spPr>
          <a:xfrm>
            <a:off x="868680" y="2606040"/>
            <a:ext cx="640080" cy="640080"/>
          </a:xfrm>
          <a:prstGeom prst="ellipse">
            <a:avLst/>
          </a:prstGeom>
          <a:solidFill>
            <a:srgbClr val="FFFFFF"/>
          </a:solidFill>
          <a:ln w="19050">
            <a:solidFill>
              <a:srgbClr val="14213D"/>
            </a:solidFill>
            <a:prstDash val="solid"/>
          </a:ln>
        </p:spPr>
      </p:sp>
      <p:sp>
        <p:nvSpPr>
          <p:cNvPr id="8" name="Text 6"/>
          <p:cNvSpPr txBox="1"/>
          <p:nvPr/>
        </p:nvSpPr>
        <p:spPr>
          <a:xfrm>
            <a:off x="868680" y="2606040"/>
            <a:ext cx="640080" cy="640080"/>
          </a:xfrm>
          <a:prstGeom prst="rect">
            <a:avLst/>
          </a:prstGeom>
          <a:noFill/>
          <a:ln/>
        </p:spPr>
        <p:txBody>
          <a:bodyPr wrap="square" lIns="0" tIns="0" rIns="0" bIns="0" rtlCol="0" anchor="ctr"/>
          <a:lstStyle/>
          <a:p>
            <a:pPr algn="ctr" indent="0" marL="0">
              <a:buNone/>
            </a:pPr>
            <a:r>
              <a:rPr lang="en-US" sz="2000" b="1" dirty="0">
                <a:solidFill>
                  <a:srgbClr val="14213D"/>
                </a:solidFill>
                <a:latin typeface="Georgia" pitchFamily="34" charset="0"/>
                <a:ea typeface="Georgia" pitchFamily="34" charset="-122"/>
                <a:cs typeface="Georgia" pitchFamily="34" charset="-120"/>
              </a:rPr>
              <a:t>1</a:t>
            </a:r>
            <a:endParaRPr lang="en-US" sz="2000" dirty="0"/>
          </a:p>
        </p:txBody>
      </p:sp>
      <p:sp>
        <p:nvSpPr>
          <p:cNvPr id="9" name="Text 7"/>
          <p:cNvSpPr txBox="1"/>
          <p:nvPr/>
        </p:nvSpPr>
        <p:spPr>
          <a:xfrm>
            <a:off x="411480" y="3429000"/>
            <a:ext cx="1554480" cy="3657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First app</a:t>
            </a:r>
            <a:endParaRPr lang="en-US" sz="1500" dirty="0"/>
          </a:p>
        </p:txBody>
      </p:sp>
      <p:sp>
        <p:nvSpPr>
          <p:cNvPr id="10" name="Text 8"/>
          <p:cNvSpPr txBox="1"/>
          <p:nvPr/>
        </p:nvSpPr>
        <p:spPr>
          <a:xfrm>
            <a:off x="411480" y="3794760"/>
            <a:ext cx="1554480" cy="548640"/>
          </a:xfrm>
          <a:prstGeom prst="rect">
            <a:avLst/>
          </a:prstGeom>
          <a:noFill/>
          <a:ln/>
        </p:spPr>
        <p:txBody>
          <a:bodyPr wrap="square" lIns="0" tIns="0" rIns="0" bIns="0" rtlCol="0" anchor="ctr"/>
          <a:lstStyle/>
          <a:p>
            <a:pPr algn="ctr" indent="0" marL="0">
              <a:buNone/>
            </a:pPr>
            <a:r>
              <a:rPr lang="en-US" sz="1250" dirty="0">
                <a:solidFill>
                  <a:srgbClr val="4A5568"/>
                </a:solidFill>
                <a:latin typeface="Calibri" pitchFamily="34" charset="0"/>
                <a:ea typeface="Calibri" pitchFamily="34" charset="-122"/>
                <a:cs typeface="Calibri" pitchFamily="34" charset="-120"/>
              </a:rPr>
              <a:t>GET /api/reverse</a:t>
            </a:r>
            <a:endParaRPr lang="en-US" sz="1250" dirty="0"/>
          </a:p>
        </p:txBody>
      </p:sp>
      <p:sp>
        <p:nvSpPr>
          <p:cNvPr id="11" name="Shape 9"/>
          <p:cNvSpPr/>
          <p:nvPr/>
        </p:nvSpPr>
        <p:spPr>
          <a:xfrm>
            <a:off x="2542032" y="2606040"/>
            <a:ext cx="640080" cy="640080"/>
          </a:xfrm>
          <a:prstGeom prst="ellipse">
            <a:avLst/>
          </a:prstGeom>
          <a:solidFill>
            <a:srgbClr val="FFFFFF"/>
          </a:solidFill>
          <a:ln w="19050">
            <a:solidFill>
              <a:srgbClr val="14213D"/>
            </a:solidFill>
            <a:prstDash val="solid"/>
          </a:ln>
        </p:spPr>
      </p:sp>
      <p:sp>
        <p:nvSpPr>
          <p:cNvPr id="12" name="Text 10"/>
          <p:cNvSpPr txBox="1"/>
          <p:nvPr/>
        </p:nvSpPr>
        <p:spPr>
          <a:xfrm>
            <a:off x="2542032" y="2606040"/>
            <a:ext cx="640080" cy="640080"/>
          </a:xfrm>
          <a:prstGeom prst="rect">
            <a:avLst/>
          </a:prstGeom>
          <a:noFill/>
          <a:ln/>
        </p:spPr>
        <p:txBody>
          <a:bodyPr wrap="square" lIns="0" tIns="0" rIns="0" bIns="0" rtlCol="0" anchor="ctr"/>
          <a:lstStyle/>
          <a:p>
            <a:pPr algn="ctr" indent="0" marL="0">
              <a:buNone/>
            </a:pPr>
            <a:r>
              <a:rPr lang="en-US" sz="2000" b="1" dirty="0">
                <a:solidFill>
                  <a:srgbClr val="14213D"/>
                </a:solidFill>
                <a:latin typeface="Georgia" pitchFamily="34" charset="0"/>
                <a:ea typeface="Georgia" pitchFamily="34" charset="-122"/>
                <a:cs typeface="Georgia" pitchFamily="34" charset="-120"/>
              </a:rPr>
              <a:t>2</a:t>
            </a:r>
            <a:endParaRPr lang="en-US" sz="2000" dirty="0"/>
          </a:p>
        </p:txBody>
      </p:sp>
      <p:sp>
        <p:nvSpPr>
          <p:cNvPr id="13" name="Text 11"/>
          <p:cNvSpPr txBox="1"/>
          <p:nvPr/>
        </p:nvSpPr>
        <p:spPr>
          <a:xfrm>
            <a:off x="2084832" y="3429000"/>
            <a:ext cx="1554480" cy="3657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IoC, beans</a:t>
            </a:r>
            <a:endParaRPr lang="en-US" sz="1500" dirty="0"/>
          </a:p>
        </p:txBody>
      </p:sp>
      <p:sp>
        <p:nvSpPr>
          <p:cNvPr id="14" name="Text 12"/>
          <p:cNvSpPr txBox="1"/>
          <p:nvPr/>
        </p:nvSpPr>
        <p:spPr>
          <a:xfrm>
            <a:off x="2084832" y="3794760"/>
            <a:ext cx="1554480" cy="548640"/>
          </a:xfrm>
          <a:prstGeom prst="rect">
            <a:avLst/>
          </a:prstGeom>
          <a:noFill/>
          <a:ln/>
        </p:spPr>
        <p:txBody>
          <a:bodyPr wrap="square" lIns="0" tIns="0" rIns="0" bIns="0" rtlCol="0" anchor="ctr"/>
          <a:lstStyle/>
          <a:p>
            <a:pPr algn="ctr" indent="0" marL="0">
              <a:buNone/>
            </a:pPr>
            <a:r>
              <a:rPr lang="en-US" sz="1250" dirty="0">
                <a:solidFill>
                  <a:srgbClr val="4A5568"/>
                </a:solidFill>
                <a:latin typeface="Calibri" pitchFamily="34" charset="0"/>
                <a:ea typeface="Calibri" pitchFamily="34" charset="-122"/>
                <a:cs typeface="Calibri" pitchFamily="34" charset="-120"/>
              </a:rPr>
              <a:t>"reversed" notifier</a:t>
            </a:r>
            <a:endParaRPr lang="en-US" sz="1250" dirty="0"/>
          </a:p>
        </p:txBody>
      </p:sp>
      <p:sp>
        <p:nvSpPr>
          <p:cNvPr id="15" name="Shape 13"/>
          <p:cNvSpPr/>
          <p:nvPr/>
        </p:nvSpPr>
        <p:spPr>
          <a:xfrm>
            <a:off x="4215384" y="2606040"/>
            <a:ext cx="640080" cy="640080"/>
          </a:xfrm>
          <a:prstGeom prst="ellipse">
            <a:avLst/>
          </a:prstGeom>
          <a:solidFill>
            <a:srgbClr val="FFFFFF"/>
          </a:solidFill>
          <a:ln w="19050">
            <a:solidFill>
              <a:srgbClr val="14213D"/>
            </a:solidFill>
            <a:prstDash val="solid"/>
          </a:ln>
        </p:spPr>
      </p:sp>
      <p:sp>
        <p:nvSpPr>
          <p:cNvPr id="16" name="Text 14"/>
          <p:cNvSpPr txBox="1"/>
          <p:nvPr/>
        </p:nvSpPr>
        <p:spPr>
          <a:xfrm>
            <a:off x="4215384" y="2606040"/>
            <a:ext cx="640080" cy="640080"/>
          </a:xfrm>
          <a:prstGeom prst="rect">
            <a:avLst/>
          </a:prstGeom>
          <a:noFill/>
          <a:ln/>
        </p:spPr>
        <p:txBody>
          <a:bodyPr wrap="square" lIns="0" tIns="0" rIns="0" bIns="0" rtlCol="0" anchor="ctr"/>
          <a:lstStyle/>
          <a:p>
            <a:pPr algn="ctr" indent="0" marL="0">
              <a:buNone/>
            </a:pPr>
            <a:r>
              <a:rPr lang="en-US" sz="2000" b="1" dirty="0">
                <a:solidFill>
                  <a:srgbClr val="14213D"/>
                </a:solidFill>
                <a:latin typeface="Georgia" pitchFamily="34" charset="0"/>
                <a:ea typeface="Georgia" pitchFamily="34" charset="-122"/>
                <a:cs typeface="Georgia" pitchFamily="34" charset="-120"/>
              </a:rPr>
              <a:t>3</a:t>
            </a:r>
            <a:endParaRPr lang="en-US" sz="2000" dirty="0"/>
          </a:p>
        </p:txBody>
      </p:sp>
      <p:sp>
        <p:nvSpPr>
          <p:cNvPr id="17" name="Text 15"/>
          <p:cNvSpPr txBox="1"/>
          <p:nvPr/>
        </p:nvSpPr>
        <p:spPr>
          <a:xfrm>
            <a:off x="3758184" y="3429000"/>
            <a:ext cx="1554480" cy="3657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Config, profiles</a:t>
            </a:r>
            <a:endParaRPr lang="en-US" sz="1500" dirty="0"/>
          </a:p>
        </p:txBody>
      </p:sp>
      <p:sp>
        <p:nvSpPr>
          <p:cNvPr id="18" name="Text 16"/>
          <p:cNvSpPr txBox="1"/>
          <p:nvPr/>
        </p:nvSpPr>
        <p:spPr>
          <a:xfrm>
            <a:off x="3758184" y="3794760"/>
            <a:ext cx="1554480" cy="548640"/>
          </a:xfrm>
          <a:prstGeom prst="rect">
            <a:avLst/>
          </a:prstGeom>
          <a:noFill/>
          <a:ln/>
        </p:spPr>
        <p:txBody>
          <a:bodyPr wrap="square" lIns="0" tIns="0" rIns="0" bIns="0" rtlCol="0" anchor="ctr"/>
          <a:lstStyle/>
          <a:p>
            <a:pPr algn="ctr" indent="0" marL="0">
              <a:buNone/>
            </a:pPr>
            <a:r>
              <a:rPr lang="en-US" sz="1250" dirty="0">
                <a:solidFill>
                  <a:srgbClr val="4A5568"/>
                </a:solidFill>
                <a:latin typeface="Calibri" pitchFamily="34" charset="0"/>
                <a:ea typeface="Calibri" pitchFamily="34" charset="-122"/>
                <a:cs typeface="Calibri" pitchFamily="34" charset="-120"/>
              </a:rPr>
              <a:t>app.pagination</a:t>
            </a:r>
            <a:endParaRPr lang="en-US" sz="1250" dirty="0"/>
          </a:p>
        </p:txBody>
      </p:sp>
      <p:sp>
        <p:nvSpPr>
          <p:cNvPr id="19" name="Shape 17"/>
          <p:cNvSpPr/>
          <p:nvPr/>
        </p:nvSpPr>
        <p:spPr>
          <a:xfrm>
            <a:off x="5888736" y="2606040"/>
            <a:ext cx="640080" cy="640080"/>
          </a:xfrm>
          <a:prstGeom prst="ellipse">
            <a:avLst/>
          </a:prstGeom>
          <a:solidFill>
            <a:srgbClr val="FFFFFF"/>
          </a:solidFill>
          <a:ln w="19050">
            <a:solidFill>
              <a:srgbClr val="14213D"/>
            </a:solidFill>
            <a:prstDash val="solid"/>
          </a:ln>
        </p:spPr>
      </p:sp>
      <p:sp>
        <p:nvSpPr>
          <p:cNvPr id="20" name="Text 18"/>
          <p:cNvSpPr txBox="1"/>
          <p:nvPr/>
        </p:nvSpPr>
        <p:spPr>
          <a:xfrm>
            <a:off x="5888736" y="2606040"/>
            <a:ext cx="640080" cy="640080"/>
          </a:xfrm>
          <a:prstGeom prst="rect">
            <a:avLst/>
          </a:prstGeom>
          <a:noFill/>
          <a:ln/>
        </p:spPr>
        <p:txBody>
          <a:bodyPr wrap="square" lIns="0" tIns="0" rIns="0" bIns="0" rtlCol="0" anchor="ctr"/>
          <a:lstStyle/>
          <a:p>
            <a:pPr algn="ctr" indent="0" marL="0">
              <a:buNone/>
            </a:pPr>
            <a:r>
              <a:rPr lang="en-US" sz="2000" b="1" dirty="0">
                <a:solidFill>
                  <a:srgbClr val="14213D"/>
                </a:solidFill>
                <a:latin typeface="Georgia" pitchFamily="34" charset="0"/>
                <a:ea typeface="Georgia" pitchFamily="34" charset="-122"/>
                <a:cs typeface="Georgia" pitchFamily="34" charset="-120"/>
              </a:rPr>
              <a:t>4</a:t>
            </a:r>
            <a:endParaRPr lang="en-US" sz="2000" dirty="0"/>
          </a:p>
        </p:txBody>
      </p:sp>
      <p:sp>
        <p:nvSpPr>
          <p:cNvPr id="21" name="Text 19"/>
          <p:cNvSpPr txBox="1"/>
          <p:nvPr/>
        </p:nvSpPr>
        <p:spPr>
          <a:xfrm>
            <a:off x="5431536" y="3429000"/>
            <a:ext cx="1554480" cy="3657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AOP</a:t>
            </a:r>
            <a:endParaRPr lang="en-US" sz="1500" dirty="0"/>
          </a:p>
        </p:txBody>
      </p:sp>
      <p:sp>
        <p:nvSpPr>
          <p:cNvPr id="22" name="Text 20"/>
          <p:cNvSpPr txBox="1"/>
          <p:nvPr/>
        </p:nvSpPr>
        <p:spPr>
          <a:xfrm>
            <a:off x="5431536" y="3794760"/>
            <a:ext cx="1554480" cy="548640"/>
          </a:xfrm>
          <a:prstGeom prst="rect">
            <a:avLst/>
          </a:prstGeom>
          <a:noFill/>
          <a:ln/>
        </p:spPr>
        <p:txBody>
          <a:bodyPr wrap="square" lIns="0" tIns="0" rIns="0" bIns="0" rtlCol="0" anchor="ctr"/>
          <a:lstStyle/>
          <a:p>
            <a:pPr algn="ctr" indent="0" marL="0">
              <a:buNone/>
            </a:pPr>
            <a:r>
              <a:rPr lang="en-US" sz="1250" dirty="0">
                <a:solidFill>
                  <a:srgbClr val="4A5568"/>
                </a:solidFill>
                <a:latin typeface="Calibri" pitchFamily="34" charset="0"/>
                <a:ea typeface="Calibri" pitchFamily="34" charset="-122"/>
                <a:cs typeface="Calibri" pitchFamily="34" charset="-120"/>
              </a:rPr>
              <a:t>call counter</a:t>
            </a:r>
            <a:endParaRPr lang="en-US" sz="1250" dirty="0"/>
          </a:p>
        </p:txBody>
      </p:sp>
      <p:sp>
        <p:nvSpPr>
          <p:cNvPr id="23" name="Shape 21"/>
          <p:cNvSpPr/>
          <p:nvPr/>
        </p:nvSpPr>
        <p:spPr>
          <a:xfrm>
            <a:off x="7562088" y="2606040"/>
            <a:ext cx="640080" cy="640080"/>
          </a:xfrm>
          <a:prstGeom prst="ellipse">
            <a:avLst/>
          </a:prstGeom>
          <a:solidFill>
            <a:srgbClr val="FFFFFF"/>
          </a:solidFill>
          <a:ln w="19050">
            <a:solidFill>
              <a:srgbClr val="14213D"/>
            </a:solidFill>
            <a:prstDash val="solid"/>
          </a:ln>
        </p:spPr>
      </p:sp>
      <p:sp>
        <p:nvSpPr>
          <p:cNvPr id="24" name="Text 22"/>
          <p:cNvSpPr txBox="1"/>
          <p:nvPr/>
        </p:nvSpPr>
        <p:spPr>
          <a:xfrm>
            <a:off x="7562088" y="2606040"/>
            <a:ext cx="640080" cy="640080"/>
          </a:xfrm>
          <a:prstGeom prst="rect">
            <a:avLst/>
          </a:prstGeom>
          <a:noFill/>
          <a:ln/>
        </p:spPr>
        <p:txBody>
          <a:bodyPr wrap="square" lIns="0" tIns="0" rIns="0" bIns="0" rtlCol="0" anchor="ctr"/>
          <a:lstStyle/>
          <a:p>
            <a:pPr algn="ctr" indent="0" marL="0">
              <a:buNone/>
            </a:pPr>
            <a:r>
              <a:rPr lang="en-US" sz="2000" b="1" dirty="0">
                <a:solidFill>
                  <a:srgbClr val="14213D"/>
                </a:solidFill>
                <a:latin typeface="Georgia" pitchFamily="34" charset="0"/>
                <a:ea typeface="Georgia" pitchFamily="34" charset="-122"/>
                <a:cs typeface="Georgia" pitchFamily="34" charset="-120"/>
              </a:rPr>
              <a:t>5</a:t>
            </a:r>
            <a:endParaRPr lang="en-US" sz="2000" dirty="0"/>
          </a:p>
        </p:txBody>
      </p:sp>
      <p:sp>
        <p:nvSpPr>
          <p:cNvPr id="25" name="Text 23"/>
          <p:cNvSpPr txBox="1"/>
          <p:nvPr/>
        </p:nvSpPr>
        <p:spPr>
          <a:xfrm>
            <a:off x="7104888" y="3429000"/>
            <a:ext cx="1554480" cy="3657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MVC</a:t>
            </a:r>
            <a:endParaRPr lang="en-US" sz="1500" dirty="0"/>
          </a:p>
        </p:txBody>
      </p:sp>
      <p:sp>
        <p:nvSpPr>
          <p:cNvPr id="26" name="Text 24"/>
          <p:cNvSpPr txBox="1"/>
          <p:nvPr/>
        </p:nvSpPr>
        <p:spPr>
          <a:xfrm>
            <a:off x="7104888" y="3794760"/>
            <a:ext cx="1554480" cy="548640"/>
          </a:xfrm>
          <a:prstGeom prst="rect">
            <a:avLst/>
          </a:prstGeom>
          <a:noFill/>
          <a:ln/>
        </p:spPr>
        <p:txBody>
          <a:bodyPr wrap="square" lIns="0" tIns="0" rIns="0" bIns="0" rtlCol="0" anchor="ctr"/>
          <a:lstStyle/>
          <a:p>
            <a:pPr algn="ctr" indent="0" marL="0">
              <a:buNone/>
            </a:pPr>
            <a:r>
              <a:rPr lang="en-US" sz="1250" dirty="0">
                <a:solidFill>
                  <a:srgbClr val="4A5568"/>
                </a:solidFill>
                <a:latin typeface="Calibri" pitchFamily="34" charset="0"/>
                <a:ea typeface="Calibri" pitchFamily="34" charset="-122"/>
                <a:cs typeface="Calibri" pitchFamily="34" charset="-120"/>
              </a:rPr>
              <a:t>search by title</a:t>
            </a:r>
            <a:endParaRPr lang="en-US" sz="1250" dirty="0"/>
          </a:p>
        </p:txBody>
      </p:sp>
      <p:sp>
        <p:nvSpPr>
          <p:cNvPr id="27" name="Shape 25"/>
          <p:cNvSpPr/>
          <p:nvPr/>
        </p:nvSpPr>
        <p:spPr>
          <a:xfrm>
            <a:off x="9235440" y="2606040"/>
            <a:ext cx="640080" cy="640080"/>
          </a:xfrm>
          <a:prstGeom prst="ellipse">
            <a:avLst/>
          </a:prstGeom>
          <a:solidFill>
            <a:srgbClr val="FFFFFF"/>
          </a:solidFill>
          <a:ln w="19050">
            <a:solidFill>
              <a:srgbClr val="14213D"/>
            </a:solidFill>
            <a:prstDash val="solid"/>
          </a:ln>
        </p:spPr>
      </p:sp>
      <p:sp>
        <p:nvSpPr>
          <p:cNvPr id="28" name="Text 26"/>
          <p:cNvSpPr txBox="1"/>
          <p:nvPr/>
        </p:nvSpPr>
        <p:spPr>
          <a:xfrm>
            <a:off x="9235440" y="2606040"/>
            <a:ext cx="640080" cy="640080"/>
          </a:xfrm>
          <a:prstGeom prst="rect">
            <a:avLst/>
          </a:prstGeom>
          <a:noFill/>
          <a:ln/>
        </p:spPr>
        <p:txBody>
          <a:bodyPr wrap="square" lIns="0" tIns="0" rIns="0" bIns="0" rtlCol="0" anchor="ctr"/>
          <a:lstStyle/>
          <a:p>
            <a:pPr algn="ctr" indent="0" marL="0">
              <a:buNone/>
            </a:pPr>
            <a:r>
              <a:rPr lang="en-US" sz="2000" b="1" dirty="0">
                <a:solidFill>
                  <a:srgbClr val="14213D"/>
                </a:solidFill>
                <a:latin typeface="Georgia" pitchFamily="34" charset="0"/>
                <a:ea typeface="Georgia" pitchFamily="34" charset="-122"/>
                <a:cs typeface="Georgia" pitchFamily="34" charset="-120"/>
              </a:rPr>
              <a:t>6</a:t>
            </a:r>
            <a:endParaRPr lang="en-US" sz="2000" dirty="0"/>
          </a:p>
        </p:txBody>
      </p:sp>
      <p:sp>
        <p:nvSpPr>
          <p:cNvPr id="29" name="Text 27"/>
          <p:cNvSpPr txBox="1"/>
          <p:nvPr/>
        </p:nvSpPr>
        <p:spPr>
          <a:xfrm>
            <a:off x="8778240" y="3429000"/>
            <a:ext cx="1554480" cy="3657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Forms</a:t>
            </a:r>
            <a:endParaRPr lang="en-US" sz="1500" dirty="0"/>
          </a:p>
        </p:txBody>
      </p:sp>
      <p:sp>
        <p:nvSpPr>
          <p:cNvPr id="30" name="Text 28"/>
          <p:cNvSpPr txBox="1"/>
          <p:nvPr/>
        </p:nvSpPr>
        <p:spPr>
          <a:xfrm>
            <a:off x="8778240" y="3794760"/>
            <a:ext cx="1554480" cy="548640"/>
          </a:xfrm>
          <a:prstGeom prst="rect">
            <a:avLst/>
          </a:prstGeom>
          <a:noFill/>
          <a:ln/>
        </p:spPr>
        <p:txBody>
          <a:bodyPr wrap="square" lIns="0" tIns="0" rIns="0" bIns="0" rtlCol="0" anchor="ctr"/>
          <a:lstStyle/>
          <a:p>
            <a:pPr algn="ctr" indent="0" marL="0">
              <a:buNone/>
            </a:pPr>
            <a:r>
              <a:rPr lang="en-US" sz="1250" dirty="0">
                <a:solidFill>
                  <a:srgbClr val="4A5568"/>
                </a:solidFill>
                <a:latin typeface="Calibri" pitchFamily="34" charset="0"/>
                <a:ea typeface="Calibri" pitchFamily="34" charset="-122"/>
                <a:cs typeface="Calibri" pitchFamily="34" charset="-120"/>
              </a:rPr>
              <a:t>ISBN check</a:t>
            </a:r>
            <a:endParaRPr lang="en-US" sz="1250" dirty="0"/>
          </a:p>
        </p:txBody>
      </p:sp>
      <p:sp>
        <p:nvSpPr>
          <p:cNvPr id="31" name="Shape 29"/>
          <p:cNvSpPr/>
          <p:nvPr/>
        </p:nvSpPr>
        <p:spPr>
          <a:xfrm>
            <a:off x="10908792" y="2606040"/>
            <a:ext cx="640080" cy="640080"/>
          </a:xfrm>
          <a:prstGeom prst="ellipse">
            <a:avLst/>
          </a:prstGeom>
          <a:solidFill>
            <a:srgbClr val="FFD54A"/>
          </a:solidFill>
          <a:ln w="19050">
            <a:solidFill>
              <a:srgbClr val="14213D"/>
            </a:solidFill>
            <a:prstDash val="solid"/>
          </a:ln>
        </p:spPr>
      </p:sp>
      <p:sp>
        <p:nvSpPr>
          <p:cNvPr id="32" name="Text 30"/>
          <p:cNvSpPr txBox="1"/>
          <p:nvPr/>
        </p:nvSpPr>
        <p:spPr>
          <a:xfrm>
            <a:off x="10908792" y="2606040"/>
            <a:ext cx="640080" cy="640080"/>
          </a:xfrm>
          <a:prstGeom prst="rect">
            <a:avLst/>
          </a:prstGeom>
          <a:noFill/>
          <a:ln/>
        </p:spPr>
        <p:txBody>
          <a:bodyPr wrap="square" lIns="0" tIns="0" rIns="0" bIns="0" rtlCol="0" anchor="ctr"/>
          <a:lstStyle/>
          <a:p>
            <a:pPr algn="ctr" indent="0" marL="0">
              <a:buNone/>
            </a:pPr>
            <a:r>
              <a:rPr lang="en-US" sz="2000" b="1" dirty="0">
                <a:solidFill>
                  <a:srgbClr val="14213D"/>
                </a:solidFill>
                <a:latin typeface="Georgia" pitchFamily="34" charset="0"/>
                <a:ea typeface="Georgia" pitchFamily="34" charset="-122"/>
                <a:cs typeface="Georgia" pitchFamily="34" charset="-120"/>
              </a:rPr>
              <a:t>7</a:t>
            </a:r>
            <a:endParaRPr lang="en-US" sz="2000" dirty="0"/>
          </a:p>
        </p:txBody>
      </p:sp>
      <p:sp>
        <p:nvSpPr>
          <p:cNvPr id="33" name="Text 31"/>
          <p:cNvSpPr txBox="1"/>
          <p:nvPr/>
        </p:nvSpPr>
        <p:spPr>
          <a:xfrm>
            <a:off x="10451592" y="3429000"/>
            <a:ext cx="1554480" cy="3657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REST API</a:t>
            </a:r>
            <a:endParaRPr lang="en-US" sz="1500" dirty="0"/>
          </a:p>
        </p:txBody>
      </p:sp>
      <p:sp>
        <p:nvSpPr>
          <p:cNvPr id="34" name="Text 32"/>
          <p:cNvSpPr txBox="1"/>
          <p:nvPr/>
        </p:nvSpPr>
        <p:spPr>
          <a:xfrm>
            <a:off x="10451592" y="3794760"/>
            <a:ext cx="1554480" cy="548640"/>
          </a:xfrm>
          <a:prstGeom prst="rect">
            <a:avLst/>
          </a:prstGeom>
          <a:noFill/>
          <a:ln/>
        </p:spPr>
        <p:txBody>
          <a:bodyPr wrap="square" lIns="0" tIns="0" rIns="0" bIns="0" rtlCol="0" anchor="ctr"/>
          <a:lstStyle/>
          <a:p>
            <a:pPr algn="ctr" indent="0" marL="0">
              <a:buNone/>
            </a:pPr>
            <a:r>
              <a:rPr lang="en-US" sz="1250" dirty="0">
                <a:solidFill>
                  <a:srgbClr val="4A5568"/>
                </a:solidFill>
                <a:latin typeface="Calibri" pitchFamily="34" charset="0"/>
                <a:ea typeface="Calibri" pitchFamily="34" charset="-122"/>
                <a:cs typeface="Calibri" pitchFamily="34" charset="-120"/>
              </a:rPr>
              <a:t>paging</a:t>
            </a:r>
            <a:endParaRPr lang="en-US" sz="1250" dirty="0"/>
          </a:p>
        </p:txBody>
      </p:sp>
      <p:sp>
        <p:nvSpPr>
          <p:cNvPr id="35" name="Text 33"/>
          <p:cNvSpPr txBox="1"/>
          <p:nvPr/>
        </p:nvSpPr>
        <p:spPr>
          <a:xfrm>
            <a:off x="685800" y="4937760"/>
            <a:ext cx="10789920" cy="548640"/>
          </a:xfrm>
          <a:prstGeom prst="rect">
            <a:avLst/>
          </a:prstGeom>
          <a:noFill/>
          <a:ln/>
        </p:spPr>
        <p:txBody>
          <a:bodyPr wrap="square" lIns="0" tIns="0" rIns="0" bIns="0" rtlCol="0" anchor="t"/>
          <a:lstStyle/>
          <a:p>
            <a:pPr indent="0" marL="0">
              <a:lnSpc>
                <a:spcPct val="108000"/>
              </a:lnSpc>
              <a:spcAft>
                <a:spcPts val="800"/>
              </a:spcAft>
              <a:buNone/>
            </a:pPr>
            <a:r>
              <a:rPr lang="en-US" sz="1250" dirty="0">
                <a:solidFill>
                  <a:srgbClr val="4A5568"/>
                </a:solidFill>
                <a:latin typeface="Calibri" pitchFamily="34" charset="0"/>
                <a:ea typeface="Calibri" pitchFamily="34" charset="-122"/>
                <a:cs typeface="Calibri" pitchFamily="34" charset="-120"/>
              </a:rPr>
              <a:t>Second line under each step is our individual variant. Code: github.com/Alilishka3/spring-lab-01, one branch per lab, branch rk1 has all of it.</a:t>
            </a:r>
            <a:endParaRPr lang="en-US" sz="1250" dirty="0"/>
          </a:p>
        </p:txBody>
      </p:sp>
      <p:sp>
        <p:nvSpPr>
          <p:cNvPr id="25" name="Slide Number Placeholder 0"/>
          <p:cNvSpPr>
            <a:spLocks noGrp="1"/>
          </p:cNvSpPr>
          <p:nvPr>
            <p:ph type="sldNum" sz="quarter" idx="4294967295"/>
          </p:nvPr>
        </p:nvSpPr>
        <p:spPr>
          <a:xfrm>
            <a:off x="1106424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85800" y="274320"/>
            <a:ext cx="1197864" cy="237744"/>
          </a:xfrm>
          <a:prstGeom prst="rect">
            <a:avLst/>
          </a:prstGeom>
          <a:solidFill>
            <a:srgbClr val="FFD54A"/>
          </a:solidFill>
          <a:ln w="12700">
            <a:solidFill>
              <a:srgbClr val="FFD54A"/>
            </a:solidFill>
            <a:prstDash val="solid"/>
          </a:ln>
        </p:spPr>
      </p:sp>
      <p:sp>
        <p:nvSpPr>
          <p:cNvPr id="3" name="Text 1"/>
          <p:cNvSpPr txBox="1"/>
          <p:nvPr/>
        </p:nvSpPr>
        <p:spPr>
          <a:xfrm>
            <a:off x="685800" y="274320"/>
            <a:ext cx="1197864" cy="237744"/>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Labs 1 and 2</a:t>
            </a:r>
            <a:endParaRPr lang="en-US" sz="1100" dirty="0"/>
          </a:p>
        </p:txBody>
      </p:sp>
      <p:sp>
        <p:nvSpPr>
          <p:cNvPr id="4" name="Text 0"/>
          <p:cNvSpPr/>
          <p:nvPr>
            <p:ph idx="100" type="title" hasCustomPrompt="1"/>
          </p:nvPr>
        </p:nvSpPr>
        <p:spPr>
          <a:xfrm>
            <a:off x="685800" y="566928"/>
            <a:ext cx="10789920" cy="822960"/>
          </a:xfrm>
          <a:prstGeom prst="rect">
            <a:avLst/>
          </a:prstGeom>
          <a:noFill/>
          <a:ln/>
        </p:spPr>
        <p:txBody>
          <a:bodyPr wrap="square" lIns="0" tIns="0" rIns="0" bIns="0" rtlCol="0" anchor="t"/>
          <a:lstStyle/>
          <a:p>
            <a:pPr algn="l" indent="0" marL="0">
              <a:buNone/>
            </a:pPr>
            <a:r>
              <a:rPr lang="en-US" sz="3200" b="1" dirty="0">
                <a:solidFill>
                  <a:srgbClr val="14213D"/>
                </a:solidFill>
                <a:latin typeface="Georgia" pitchFamily="34" charset="0"/>
                <a:ea typeface="Georgia" pitchFamily="34" charset="-122"/>
                <a:cs typeface="Georgia" pitchFamily="34" charset="-120"/>
              </a:rPr>
              <a:t>First app, then four beans</a:t>
            </a:r>
            <a:endParaRPr lang="en-US" sz="3200" dirty="0"/>
          </a:p>
        </p:txBody>
      </p:sp>
      <p:sp>
        <p:nvSpPr>
          <p:cNvPr id="5" name="Text 3"/>
          <p:cNvSpPr txBox="1"/>
          <p:nvPr/>
        </p:nvSpPr>
        <p:spPr>
          <a:xfrm>
            <a:off x="685800" y="1508760"/>
            <a:ext cx="5029200" cy="1371600"/>
          </a:xfrm>
          <a:prstGeom prst="rect">
            <a:avLst/>
          </a:prstGeom>
          <a:noFill/>
          <a:ln/>
        </p:spPr>
        <p:txBody>
          <a:bodyPr wrap="square" lIns="0" tIns="0" rIns="0" bIns="0" rtlCol="0" anchor="t"/>
          <a:lstStyle/>
          <a:p>
            <a:pPr indent="0" marL="0">
              <a:lnSpc>
                <a:spcPct val="108000"/>
              </a:lnSpc>
              <a:spcAft>
                <a:spcPts val="800"/>
              </a:spcAft>
              <a:buNone/>
            </a:pPr>
            <a:r>
              <a:rPr lang="en-US" sz="1600" b="1" dirty="0">
                <a:solidFill>
                  <a:srgbClr val="14213D"/>
                </a:solidFill>
                <a:latin typeface="Calibri" pitchFamily="34" charset="0"/>
                <a:ea typeface="Calibri" pitchFamily="34" charset="-122"/>
                <a:cs typeface="Calibri" pitchFamily="34" charset="-120"/>
              </a:rPr>
              <a:t>Lab 1</a:t>
            </a:r>
            <a:endParaRPr lang="en-US" sz="1600" dirty="0"/>
          </a:p>
          <a:p>
            <a:pPr indent="0" marL="0">
              <a:lnSpc>
                <a:spcPct val="108000"/>
              </a:lnSpc>
              <a:spcAft>
                <a:spcPts val="800"/>
              </a:spcAft>
              <a:buNone/>
            </a:pPr>
            <a:r>
              <a:rPr lang="en-US" sz="1600" dirty="0">
                <a:solidFill>
                  <a:srgbClr val="14213D"/>
                </a:solidFill>
                <a:latin typeface="Calibri" pitchFamily="34" charset="0"/>
                <a:ea typeface="Calibri" pitchFamily="34" charset="-122"/>
                <a:cs typeface="Calibri" pitchFamily="34" charset="-120"/>
              </a:rPr>
              <a:t>Spring Initializr project and our first controller. The variant endpoint turns a string around and says how long it is; without text it answers 400.</a:t>
            </a:r>
            <a:endParaRPr lang="en-US" sz="1600" dirty="0"/>
          </a:p>
        </p:txBody>
      </p:sp>
      <p:sp>
        <p:nvSpPr>
          <p:cNvPr id="6" name="Shape 4"/>
          <p:cNvSpPr/>
          <p:nvPr/>
        </p:nvSpPr>
        <p:spPr>
          <a:xfrm>
            <a:off x="685800" y="2926080"/>
            <a:ext cx="5029200" cy="1325880"/>
          </a:xfrm>
          <a:prstGeom prst="rect">
            <a:avLst/>
          </a:prstGeom>
          <a:solidFill>
            <a:srgbClr val="F4F6F9"/>
          </a:solidFill>
          <a:ln w="9525">
            <a:solidFill>
              <a:srgbClr val="D9DEE6"/>
            </a:solidFill>
            <a:prstDash val="solid"/>
          </a:ln>
        </p:spPr>
      </p:sp>
      <p:sp>
        <p:nvSpPr>
          <p:cNvPr id="7" name="Text 5"/>
          <p:cNvSpPr txBox="1"/>
          <p:nvPr/>
        </p:nvSpPr>
        <p:spPr>
          <a:xfrm>
            <a:off x="886968" y="3081528"/>
            <a:ext cx="4663440" cy="1051560"/>
          </a:xfrm>
          <a:prstGeom prst="rect">
            <a:avLst/>
          </a:prstGeom>
          <a:noFill/>
          <a:ln/>
        </p:spPr>
        <p:txBody>
          <a:bodyPr wrap="square" lIns="0" tIns="0" rIns="0" bIns="0" rtlCol="0" anchor="t"/>
          <a:lstStyle/>
          <a:p>
            <a:pPr indent="0" marL="0">
              <a:buNone/>
            </a:pPr>
            <a:r>
              <a:rPr lang="en-US" sz="1000" dirty="0">
                <a:solidFill>
                  <a:srgbClr val="8A94A6"/>
                </a:solidFill>
                <a:latin typeface="Consolas" pitchFamily="34" charset="0"/>
                <a:ea typeface="Consolas" pitchFamily="34" charset="-122"/>
                <a:cs typeface="Consolas" pitchFamily="34" charset="-120"/>
              </a:rPr>
              <a:t>$ curl "…/api/reverse?text=IITU 2026"</a:t>
            </a:r>
            <a:endParaRPr lang="en-US" sz="1000" dirty="0"/>
          </a:p>
          <a:p>
            <a:pPr indent="0" marL="0">
              <a:buNone/>
            </a:pPr>
            <a:r>
              <a:rPr lang="en-US" sz="1000" b="1" dirty="0">
                <a:solidFill>
                  <a:srgbClr val="1E7D4F"/>
                </a:solidFill>
                <a:latin typeface="Consolas" pitchFamily="34" charset="0"/>
                <a:ea typeface="Consolas" pitchFamily="34" charset="-122"/>
                <a:cs typeface="Consolas" pitchFamily="34" charset="-120"/>
              </a:rPr>
              <a:t>HTTP/1.1 200</a:t>
            </a:r>
            <a:endParaRPr lang="en-US" sz="1000" dirty="0"/>
          </a:p>
          <a:p>
            <a:pPr indent="0" marL="0">
              <a:buNone/>
            </a:pPr>
            <a:r>
              <a:rPr lang="en-US" sz="1000" dirty="0">
                <a:solidFill>
                  <a:srgbClr val="14213D"/>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14213D"/>
                </a:solidFill>
                <a:latin typeface="Consolas" pitchFamily="34" charset="0"/>
                <a:ea typeface="Consolas" pitchFamily="34" charset="-122"/>
                <a:cs typeface="Consolas" pitchFamily="34" charset="-120"/>
              </a:rPr>
              <a:t>{"original":"IITU 2026","reversed":"6202 UTII","length":9}</a:t>
            </a:r>
            <a:endParaRPr lang="en-US" sz="1000" dirty="0"/>
          </a:p>
        </p:txBody>
      </p:sp>
      <p:sp>
        <p:nvSpPr>
          <p:cNvPr id="8" name="Text 6"/>
          <p:cNvSpPr txBox="1"/>
          <p:nvPr/>
        </p:nvSpPr>
        <p:spPr>
          <a:xfrm>
            <a:off x="6309360" y="1508760"/>
            <a:ext cx="5166360" cy="1371600"/>
          </a:xfrm>
          <a:prstGeom prst="rect">
            <a:avLst/>
          </a:prstGeom>
          <a:noFill/>
          <a:ln/>
        </p:spPr>
        <p:txBody>
          <a:bodyPr wrap="square" lIns="0" tIns="0" rIns="0" bIns="0" rtlCol="0" anchor="t"/>
          <a:lstStyle/>
          <a:p>
            <a:pPr indent="0" marL="0">
              <a:lnSpc>
                <a:spcPct val="108000"/>
              </a:lnSpc>
              <a:spcAft>
                <a:spcPts val="800"/>
              </a:spcAft>
              <a:buNone/>
            </a:pPr>
            <a:r>
              <a:rPr lang="en-US" sz="1600" b="1" dirty="0">
                <a:solidFill>
                  <a:srgbClr val="14213D"/>
                </a:solidFill>
                <a:latin typeface="Calibri" pitchFamily="34" charset="0"/>
                <a:ea typeface="Calibri" pitchFamily="34" charset="-122"/>
                <a:cs typeface="Calibri" pitchFamily="34" charset="-120"/>
              </a:rPr>
              <a:t>Lab 2</a:t>
            </a:r>
            <a:endParaRPr lang="en-US" sz="1600" dirty="0"/>
          </a:p>
          <a:p>
            <a:pPr indent="0" marL="0">
              <a:lnSpc>
                <a:spcPct val="108000"/>
              </a:lnSpc>
              <a:spcAft>
                <a:spcPts val="800"/>
              </a:spcAft>
              <a:buNone/>
            </a:pPr>
            <a:r>
              <a:rPr lang="en-US" sz="1600" dirty="0">
                <a:solidFill>
                  <a:srgbClr val="14213D"/>
                </a:solidFill>
                <a:latin typeface="Calibri" pitchFamily="34" charset="0"/>
                <a:ea typeface="Calibri" pitchFamily="34" charset="-122"/>
                <a:cs typeface="Calibri" pitchFamily="34" charset="-120"/>
              </a:rPr>
              <a:t>Console, email, reversed and noop all implement Notifier. With @Primary removed the app would not start:</a:t>
            </a:r>
            <a:endParaRPr lang="en-US" sz="1600" dirty="0"/>
          </a:p>
        </p:txBody>
      </p:sp>
      <p:sp>
        <p:nvSpPr>
          <p:cNvPr id="9" name="Shape 7"/>
          <p:cNvSpPr/>
          <p:nvPr/>
        </p:nvSpPr>
        <p:spPr>
          <a:xfrm>
            <a:off x="6309360" y="2926080"/>
            <a:ext cx="5166360" cy="1325880"/>
          </a:xfrm>
          <a:prstGeom prst="rect">
            <a:avLst/>
          </a:prstGeom>
          <a:solidFill>
            <a:srgbClr val="F4F6F9"/>
          </a:solidFill>
          <a:ln w="9525">
            <a:solidFill>
              <a:srgbClr val="D9DEE6"/>
            </a:solidFill>
            <a:prstDash val="solid"/>
          </a:ln>
        </p:spPr>
      </p:sp>
      <p:sp>
        <p:nvSpPr>
          <p:cNvPr id="10" name="Text 8"/>
          <p:cNvSpPr txBox="1"/>
          <p:nvPr/>
        </p:nvSpPr>
        <p:spPr>
          <a:xfrm>
            <a:off x="6510528" y="3081528"/>
            <a:ext cx="4800600" cy="1051560"/>
          </a:xfrm>
          <a:prstGeom prst="rect">
            <a:avLst/>
          </a:prstGeom>
          <a:noFill/>
          <a:ln/>
        </p:spPr>
        <p:txBody>
          <a:bodyPr wrap="square" lIns="0" tIns="0" rIns="0" bIns="0" rtlCol="0" anchor="t"/>
          <a:lstStyle/>
          <a:p>
            <a:pPr indent="0" marL="0">
              <a:buNone/>
            </a:pPr>
            <a:r>
              <a:rPr lang="en-US" sz="1300" b="1" dirty="0">
                <a:solidFill>
                  <a:srgbClr val="C0392B"/>
                </a:solidFill>
                <a:latin typeface="Consolas" pitchFamily="34" charset="0"/>
                <a:ea typeface="Consolas" pitchFamily="34" charset="-122"/>
                <a:cs typeface="Consolas" pitchFamily="34" charset="-120"/>
              </a:rPr>
              <a:t>APPLICATION FAILED TO START</a:t>
            </a:r>
            <a:endParaRPr lang="en-US" sz="1300" dirty="0"/>
          </a:p>
          <a:p>
            <a:pPr indent="0" marL="0">
              <a:buNone/>
            </a:pPr>
            <a:r>
              <a:rPr lang="en-US" sz="1300" dirty="0">
                <a:solidFill>
                  <a:srgbClr val="14213D"/>
                </a:solidFill>
                <a:latin typeface="Consolas" pitchFamily="34" charset="0"/>
                <a:ea typeface="Consolas" pitchFamily="34" charset="-122"/>
                <a:cs typeface="Consolas" pitchFamily="34" charset="-120"/>
              </a:rPr>
              <a:t>NotificationService</a:t>
            </a:r>
            <a:endParaRPr lang="en-US" sz="1300" dirty="0"/>
          </a:p>
          <a:p>
            <a:pPr indent="0" marL="0">
              <a:buNone/>
            </a:pPr>
            <a:r>
              <a:rPr lang="en-US" sz="1300" dirty="0">
                <a:solidFill>
                  <a:srgbClr val="14213D"/>
                </a:solidFill>
                <a:latin typeface="Consolas" pitchFamily="34" charset="0"/>
                <a:ea typeface="Consolas" pitchFamily="34" charset="-122"/>
                <a:cs typeface="Consolas" pitchFamily="34" charset="-120"/>
              </a:rPr>
              <a:t>required a single bean, but 4 were found:</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309360" y="4526280"/>
          <a:ext cx="5166360" cy="914400"/>
        </p:xfrm>
        <a:graphic>
          <a:graphicData uri="http://schemas.openxmlformats.org/drawingml/2006/table">
            <a:tbl>
              <a:tblPr/>
              <a:tblGrid>
                <a:gridCol w="1874520"/>
                <a:gridCol w="1645920"/>
                <a:gridCol w="1645920"/>
              </a:tblGrid>
              <a:tr h="365760">
                <a:tc>
                  <a:txBody>
                    <a:bodyPr/>
                    <a:lstStyle/>
                    <a:p>
                      <a:pPr indent="0" marL="0">
                        <a:buNone/>
                      </a:pPr>
                      <a:r>
                        <a:rPr lang="en-US" sz="1350" b="1" dirty="0">
                          <a:solidFill>
                            <a:srgbClr val="14213D"/>
                          </a:solidFill>
                          <a:latin typeface="Calibri" pitchFamily="34" charset="0"/>
                          <a:ea typeface="Calibri" pitchFamily="34" charset="-122"/>
                          <a:cs typeface="Calibri" pitchFamily="34" charset="-120"/>
                        </a:rPr>
                        <a:t>Ticket id</a:t>
                      </a:r>
                      <a:endParaRPr lang="en-US" sz="13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4213D"/>
                      </a:solidFill>
                      <a:prstDash val="solid"/>
                      <a:round/>
                      <a:headEnd type="none" w="med" len="med"/>
                      <a:tailEnd type="none" w="med" len="med"/>
                    </a:lnB>
                  </a:tcPr>
                </a:tc>
                <a:tc>
                  <a:txBody>
                    <a:bodyPr/>
                    <a:lstStyle/>
                    <a:p>
                      <a:pPr indent="0" marL="0">
                        <a:buNone/>
                      </a:pPr>
                      <a:r>
                        <a:rPr lang="en-US" sz="1350" b="1" dirty="0">
                          <a:solidFill>
                            <a:srgbClr val="14213D"/>
                          </a:solidFill>
                          <a:latin typeface="Calibri" pitchFamily="34" charset="0"/>
                          <a:ea typeface="Calibri" pitchFamily="34" charset="-122"/>
                          <a:cs typeface="Calibri" pitchFamily="34" charset="-120"/>
                        </a:rPr>
                        <a:t>1st request</a:t>
                      </a:r>
                      <a:endParaRPr lang="en-US" sz="13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4213D"/>
                      </a:solidFill>
                      <a:prstDash val="solid"/>
                      <a:round/>
                      <a:headEnd type="none" w="med" len="med"/>
                      <a:tailEnd type="none" w="med" len="med"/>
                    </a:lnB>
                  </a:tcPr>
                </a:tc>
                <a:tc>
                  <a:txBody>
                    <a:bodyPr/>
                    <a:lstStyle/>
                    <a:p>
                      <a:pPr indent="0" marL="0">
                        <a:buNone/>
                      </a:pPr>
                      <a:r>
                        <a:rPr lang="en-US" sz="1350" b="1" dirty="0">
                          <a:solidFill>
                            <a:srgbClr val="14213D"/>
                          </a:solidFill>
                          <a:latin typeface="Calibri" pitchFamily="34" charset="0"/>
                          <a:ea typeface="Calibri" pitchFamily="34" charset="-122"/>
                          <a:cs typeface="Calibri" pitchFamily="34" charset="-120"/>
                        </a:rPr>
                        <a:t>2nd request</a:t>
                      </a:r>
                      <a:endParaRPr lang="en-US" sz="13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4213D"/>
                      </a:solidFill>
                      <a:prstDash val="solid"/>
                      <a:round/>
                      <a:headEnd type="none" w="med" len="med"/>
                      <a:tailEnd type="none" w="med" len="med"/>
                    </a:lnB>
                  </a:tcPr>
                </a:tc>
              </a:tr>
              <a:tr h="365760">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injected once</a:t>
                      </a:r>
                      <a:endParaRPr lang="en-US" sz="13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0057fe04</a:t>
                      </a:r>
                      <a:endParaRPr lang="en-US" sz="13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0057fe04</a:t>
                      </a:r>
                      <a:endParaRPr lang="en-US" sz="13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r h="365760">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ObjectProvider</a:t>
                      </a:r>
                      <a:endParaRPr lang="en-US" sz="13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66f1c6b5</a:t>
                      </a:r>
                      <a:endParaRPr lang="en-US" sz="13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87db70dc</a:t>
                      </a:r>
                      <a:endParaRPr lang="en-US" sz="13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bl>
          </a:graphicData>
        </a:graphic>
      </p:graphicFrame>
      <p:sp>
        <p:nvSpPr>
          <p:cNvPr id="12" name="Text 9"/>
          <p:cNvSpPr txBox="1"/>
          <p:nvPr/>
        </p:nvSpPr>
        <p:spPr>
          <a:xfrm>
            <a:off x="6309360" y="5715000"/>
            <a:ext cx="5166360" cy="457200"/>
          </a:xfrm>
          <a:prstGeom prst="rect">
            <a:avLst/>
          </a:prstGeom>
          <a:noFill/>
          <a:ln/>
        </p:spPr>
        <p:txBody>
          <a:bodyPr wrap="square" lIns="0" tIns="0" rIns="0" bIns="0" rtlCol="0" anchor="t"/>
          <a:lstStyle/>
          <a:p>
            <a:pPr indent="0" marL="0">
              <a:lnSpc>
                <a:spcPct val="108000"/>
              </a:lnSpc>
              <a:spcAft>
                <a:spcPts val="800"/>
              </a:spcAft>
              <a:buNone/>
            </a:pPr>
            <a:r>
              <a:rPr lang="en-US" sz="1250" dirty="0">
                <a:solidFill>
                  <a:srgbClr val="4A5568"/>
                </a:solidFill>
                <a:latin typeface="Calibri" pitchFamily="34" charset="0"/>
                <a:ea typeface="Calibri" pitchFamily="34" charset="-122"/>
                <a:cs typeface="Calibri" pitchFamily="34" charset="-120"/>
              </a:rPr>
              <a:t>A prototype injected into a singleton stays the same; ask the provider and you get a new one.</a:t>
            </a:r>
            <a:endParaRPr lang="en-US" sz="1250" dirty="0"/>
          </a:p>
        </p:txBody>
      </p:sp>
      <p:sp>
        <p:nvSpPr>
          <p:cNvPr id="25" name="Slide Number Placeholder 0"/>
          <p:cNvSpPr>
            <a:spLocks noGrp="1"/>
          </p:cNvSpPr>
          <p:nvPr>
            <p:ph type="sldNum" sz="quarter" idx="4294967295"/>
          </p:nvPr>
        </p:nvSpPr>
        <p:spPr>
          <a:xfrm>
            <a:off x="1106424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85800" y="274320"/>
            <a:ext cx="685800" cy="237744"/>
          </a:xfrm>
          <a:prstGeom prst="rect">
            <a:avLst/>
          </a:prstGeom>
          <a:solidFill>
            <a:srgbClr val="FFD54A"/>
          </a:solidFill>
          <a:ln w="12700">
            <a:solidFill>
              <a:srgbClr val="FFD54A"/>
            </a:solidFill>
            <a:prstDash val="solid"/>
          </a:ln>
        </p:spPr>
      </p:sp>
      <p:sp>
        <p:nvSpPr>
          <p:cNvPr id="3" name="Text 1"/>
          <p:cNvSpPr txBox="1"/>
          <p:nvPr/>
        </p:nvSpPr>
        <p:spPr>
          <a:xfrm>
            <a:off x="685800" y="274320"/>
            <a:ext cx="685800" cy="237744"/>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Lab 3</a:t>
            </a:r>
            <a:endParaRPr lang="en-US" sz="1100" dirty="0"/>
          </a:p>
        </p:txBody>
      </p:sp>
      <p:sp>
        <p:nvSpPr>
          <p:cNvPr id="4" name="Text 0"/>
          <p:cNvSpPr/>
          <p:nvPr>
            <p:ph idx="100" type="title" hasCustomPrompt="1"/>
          </p:nvPr>
        </p:nvSpPr>
        <p:spPr>
          <a:xfrm>
            <a:off x="685800" y="566928"/>
            <a:ext cx="10789920" cy="822960"/>
          </a:xfrm>
          <a:prstGeom prst="rect">
            <a:avLst/>
          </a:prstGeom>
          <a:noFill/>
          <a:ln/>
        </p:spPr>
        <p:txBody>
          <a:bodyPr wrap="square" lIns="0" tIns="0" rIns="0" bIns="0" rtlCol="0" anchor="t"/>
          <a:lstStyle/>
          <a:p>
            <a:pPr algn="l" indent="0" marL="0">
              <a:buNone/>
            </a:pPr>
            <a:r>
              <a:rPr lang="en-US" sz="3200" b="1" dirty="0">
                <a:solidFill>
                  <a:srgbClr val="14213D"/>
                </a:solidFill>
                <a:latin typeface="Georgia" pitchFamily="34" charset="0"/>
                <a:ea typeface="Georgia" pitchFamily="34" charset="-122"/>
                <a:cs typeface="Georgia" pitchFamily="34" charset="-120"/>
              </a:rPr>
              <a:t>Same JAR, different settings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5852160" cy="914400"/>
        </p:xfrm>
        <a:graphic>
          <a:graphicData uri="http://schemas.openxmlformats.org/drawingml/2006/table">
            <a:tbl>
              <a:tblPr/>
              <a:tblGrid>
                <a:gridCol w="2423160"/>
                <a:gridCol w="1143000"/>
                <a:gridCol w="1143000"/>
                <a:gridCol w="1143000"/>
              </a:tblGrid>
              <a:tr h="502920">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/api/lab3/config</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4213D"/>
                      </a:solidFill>
                      <a:prstDash val="solid"/>
                      <a:round/>
                      <a:headEnd type="none" w="med" len="med"/>
                      <a:tailEnd type="none" w="med" len="med"/>
                    </a:lnB>
                  </a:tcPr>
                </a:tc>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no profile</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4213D"/>
                      </a:solidFill>
                      <a:prstDash val="solid"/>
                      <a:round/>
                      <a:headEnd type="none" w="med" len="med"/>
                      <a:tailEnd type="none" w="med" len="med"/>
                    </a:lnB>
                  </a:tcPr>
                </a:tc>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dev</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4213D"/>
                      </a:solidFill>
                      <a:prstDash val="solid"/>
                      <a:round/>
                      <a:headEnd type="none" w="med" len="med"/>
                      <a:tailEnd type="none" w="med" len="med"/>
                    </a:lnB>
                  </a:tcPr>
                </a:tc>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prod</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4213D"/>
                      </a:solidFill>
                      <a:prstDash val="solid"/>
                      <a:round/>
                      <a:headEnd type="none" w="med" len="med"/>
                      <a:tailEnd type="none" w="med" len="med"/>
                    </a:lnB>
                  </a:tcPr>
                </a:tc>
              </a:tr>
              <a:tr h="50292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port</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8080</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8081</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8080</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r h="50292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mail retry count</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r h="50292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mail enabled</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false</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r h="50292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page size, default / max</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20 / 100</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10 / 50</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20 / 100</a:t>
                      </a:r>
                      <a:endParaRPr lang="en-US" sz="15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bl>
          </a:graphicData>
        </a:graphic>
      </p:graphicFrame>
      <p:sp>
        <p:nvSpPr>
          <p:cNvPr id="6" name="Text 3"/>
          <p:cNvSpPr txBox="1"/>
          <p:nvPr/>
        </p:nvSpPr>
        <p:spPr>
          <a:xfrm>
            <a:off x="685800" y="4206240"/>
            <a:ext cx="5852160" cy="457200"/>
          </a:xfrm>
          <a:prstGeom prst="rect">
            <a:avLst/>
          </a:prstGeom>
          <a:noFill/>
          <a:ln/>
        </p:spPr>
        <p:txBody>
          <a:bodyPr wrap="square" lIns="0" tIns="0" rIns="0" bIns="0" rtlCol="0" anchor="t"/>
          <a:lstStyle/>
          <a:p>
            <a:pPr indent="0" marL="0">
              <a:lnSpc>
                <a:spcPct val="108000"/>
              </a:lnSpc>
              <a:spcAft>
                <a:spcPts val="800"/>
              </a:spcAft>
              <a:buNone/>
            </a:pPr>
            <a:r>
              <a:rPr lang="en-US" sz="1250" dirty="0">
                <a:solidFill>
                  <a:srgbClr val="4A5568"/>
                </a:solidFill>
                <a:latin typeface="Calibri" pitchFamily="34" charset="0"/>
                <a:ea typeface="Calibri" pitchFamily="34" charset="-122"/>
                <a:cs typeface="Calibri" pitchFamily="34" charset="-120"/>
              </a:rPr>
              <a:t>The last row is our variant, app.pagination. Lab 7 uses it for paging.</a:t>
            </a:r>
            <a:endParaRPr lang="en-US" sz="1250" dirty="0"/>
          </a:p>
        </p:txBody>
      </p:sp>
      <p:sp>
        <p:nvSpPr>
          <p:cNvPr id="7" name="Text 4"/>
          <p:cNvSpPr txBox="1"/>
          <p:nvPr/>
        </p:nvSpPr>
        <p:spPr>
          <a:xfrm>
            <a:off x="7086600" y="1554480"/>
            <a:ext cx="4389120" cy="365760"/>
          </a:xfrm>
          <a:prstGeom prst="rect">
            <a:avLst/>
          </a:prstGeom>
          <a:noFill/>
          <a:ln/>
        </p:spPr>
        <p:txBody>
          <a:bodyPr wrap="square" lIns="0" tIns="0" rIns="0" bIns="0" rtlCol="0" anchor="t"/>
          <a:lstStyle/>
          <a:p>
            <a:pPr indent="0" marL="0">
              <a:lnSpc>
                <a:spcPct val="108000"/>
              </a:lnSpc>
              <a:spcAft>
                <a:spcPts val="800"/>
              </a:spcAft>
              <a:buNone/>
            </a:pPr>
            <a:r>
              <a:rPr lang="en-US" sz="1600" b="1" dirty="0">
                <a:solidFill>
                  <a:srgbClr val="14213D"/>
                </a:solidFill>
                <a:latin typeface="Calibri" pitchFamily="34" charset="0"/>
                <a:ea typeface="Calibri" pitchFamily="34" charset="-122"/>
                <a:cs typeface="Calibri" pitchFamily="34" charset="-120"/>
              </a:rPr>
              <a:t>Who wins for app.mail.retry-count?</a:t>
            </a:r>
            <a:endParaRPr lang="en-US" sz="1600" dirty="0"/>
          </a:p>
        </p:txBody>
      </p:sp>
      <p:sp>
        <p:nvSpPr>
          <p:cNvPr id="8" name="Shape 5"/>
          <p:cNvSpPr/>
          <p:nvPr/>
        </p:nvSpPr>
        <p:spPr>
          <a:xfrm>
            <a:off x="7040880" y="2093976"/>
            <a:ext cx="4434840" cy="402336"/>
          </a:xfrm>
          <a:prstGeom prst="rect">
            <a:avLst/>
          </a:prstGeom>
          <a:solidFill>
            <a:srgbClr val="FFD54A">
              <a:alpha val="75000"/>
            </a:srgbClr>
          </a:solidFill>
          <a:ln w="12700">
            <a:solidFill>
              <a:srgbClr val="FFD54A">
                <a:alpha val="0"/>
              </a:srgbClr>
            </a:solidFill>
            <a:prstDash val="solid"/>
          </a:ln>
        </p:spPr>
      </p:sp>
      <p:sp>
        <p:nvSpPr>
          <p:cNvPr id="9" name="Text 6"/>
          <p:cNvSpPr txBox="1"/>
          <p:nvPr/>
        </p:nvSpPr>
        <p:spPr>
          <a:xfrm>
            <a:off x="7178040" y="2057400"/>
            <a:ext cx="3291840" cy="475488"/>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command line</a:t>
            </a:r>
            <a:endParaRPr lang="en-US" sz="1500" dirty="0"/>
          </a:p>
        </p:txBody>
      </p:sp>
      <p:sp>
        <p:nvSpPr>
          <p:cNvPr id="10" name="Text 7"/>
          <p:cNvSpPr txBox="1"/>
          <p:nvPr/>
        </p:nvSpPr>
        <p:spPr>
          <a:xfrm>
            <a:off x="10607040" y="2057400"/>
            <a:ext cx="731520" cy="475488"/>
          </a:xfrm>
          <a:prstGeom prst="rect">
            <a:avLst/>
          </a:prstGeom>
          <a:noFill/>
          <a:ln/>
        </p:spPr>
        <p:txBody>
          <a:bodyPr wrap="square" lIns="0" tIns="0" rIns="0" bIns="0" rtlCol="0" anchor="ctr"/>
          <a:lstStyle/>
          <a:p>
            <a:pPr algn="r" indent="0" marL="0">
              <a:buNone/>
            </a:pPr>
            <a:r>
              <a:rPr lang="en-US" sz="1600" b="1" dirty="0">
                <a:solidFill>
                  <a:srgbClr val="14213D"/>
                </a:solidFill>
                <a:latin typeface="Consolas" pitchFamily="34" charset="0"/>
                <a:ea typeface="Consolas" pitchFamily="34" charset="-122"/>
                <a:cs typeface="Consolas" pitchFamily="34" charset="-120"/>
              </a:rPr>
              <a:t>9</a:t>
            </a:r>
            <a:endParaRPr lang="en-US" sz="1600" dirty="0"/>
          </a:p>
        </p:txBody>
      </p:sp>
      <p:sp>
        <p:nvSpPr>
          <p:cNvPr id="11" name="Text 8"/>
          <p:cNvSpPr txBox="1"/>
          <p:nvPr/>
        </p:nvSpPr>
        <p:spPr>
          <a:xfrm>
            <a:off x="7178040" y="2624328"/>
            <a:ext cx="3291840" cy="475488"/>
          </a:xfrm>
          <a:prstGeom prst="rect">
            <a:avLst/>
          </a:prstGeom>
          <a:noFill/>
          <a:ln/>
        </p:spPr>
        <p:txBody>
          <a:bodyPr wrap="square" lIns="0" tIns="0" rIns="0" bIns="0" rtlCol="0" anchor="ctr"/>
          <a:lstStyle/>
          <a:p>
            <a:pPr indent="0" marL="0">
              <a:buNone/>
            </a:pPr>
            <a:r>
              <a:rPr lang="en-US" sz="1500" dirty="0">
                <a:solidFill>
                  <a:srgbClr val="14213D"/>
                </a:solidFill>
                <a:latin typeface="Calibri" pitchFamily="34" charset="0"/>
                <a:ea typeface="Calibri" pitchFamily="34" charset="-122"/>
                <a:cs typeface="Calibri" pitchFamily="34" charset="-120"/>
              </a:rPr>
              <a:t>-D system property</a:t>
            </a:r>
            <a:endParaRPr lang="en-US" sz="1500" dirty="0"/>
          </a:p>
        </p:txBody>
      </p:sp>
      <p:sp>
        <p:nvSpPr>
          <p:cNvPr id="12" name="Text 9"/>
          <p:cNvSpPr txBox="1"/>
          <p:nvPr/>
        </p:nvSpPr>
        <p:spPr>
          <a:xfrm>
            <a:off x="10607040" y="2624328"/>
            <a:ext cx="731520" cy="475488"/>
          </a:xfrm>
          <a:prstGeom prst="rect">
            <a:avLst/>
          </a:prstGeom>
          <a:noFill/>
          <a:ln/>
        </p:spPr>
        <p:txBody>
          <a:bodyPr wrap="square" lIns="0" tIns="0" rIns="0" bIns="0" rtlCol="0" anchor="ctr"/>
          <a:lstStyle/>
          <a:p>
            <a:pPr algn="r" indent="0" marL="0">
              <a:buNone/>
            </a:pPr>
            <a:r>
              <a:rPr lang="en-US" sz="1600" dirty="0">
                <a:solidFill>
                  <a:srgbClr val="14213D"/>
                </a:solidFill>
                <a:latin typeface="Consolas" pitchFamily="34" charset="0"/>
                <a:ea typeface="Consolas" pitchFamily="34" charset="-122"/>
                <a:cs typeface="Consolas" pitchFamily="34" charset="-120"/>
              </a:rPr>
              <a:t>5</a:t>
            </a:r>
            <a:endParaRPr lang="en-US" sz="1600" dirty="0"/>
          </a:p>
        </p:txBody>
      </p:sp>
      <p:sp>
        <p:nvSpPr>
          <p:cNvPr id="13" name="Text 10"/>
          <p:cNvSpPr txBox="1"/>
          <p:nvPr/>
        </p:nvSpPr>
        <p:spPr>
          <a:xfrm>
            <a:off x="7178040" y="3191256"/>
            <a:ext cx="3291840" cy="475488"/>
          </a:xfrm>
          <a:prstGeom prst="rect">
            <a:avLst/>
          </a:prstGeom>
          <a:noFill/>
          <a:ln/>
        </p:spPr>
        <p:txBody>
          <a:bodyPr wrap="square" lIns="0" tIns="0" rIns="0" bIns="0" rtlCol="0" anchor="ctr"/>
          <a:lstStyle/>
          <a:p>
            <a:pPr indent="0" marL="0">
              <a:buNone/>
            </a:pPr>
            <a:r>
              <a:rPr lang="en-US" sz="1500" dirty="0">
                <a:solidFill>
                  <a:srgbClr val="14213D"/>
                </a:solidFill>
                <a:latin typeface="Calibri" pitchFamily="34" charset="0"/>
                <a:ea typeface="Calibri" pitchFamily="34" charset="-122"/>
                <a:cs typeface="Calibri" pitchFamily="34" charset="-120"/>
              </a:rPr>
              <a:t>environment variable</a:t>
            </a:r>
            <a:endParaRPr lang="en-US" sz="1500" dirty="0"/>
          </a:p>
        </p:txBody>
      </p:sp>
      <p:sp>
        <p:nvSpPr>
          <p:cNvPr id="14" name="Text 11"/>
          <p:cNvSpPr txBox="1"/>
          <p:nvPr/>
        </p:nvSpPr>
        <p:spPr>
          <a:xfrm>
            <a:off x="10607040" y="3191256"/>
            <a:ext cx="731520" cy="475488"/>
          </a:xfrm>
          <a:prstGeom prst="rect">
            <a:avLst/>
          </a:prstGeom>
          <a:noFill/>
          <a:ln/>
        </p:spPr>
        <p:txBody>
          <a:bodyPr wrap="square" lIns="0" tIns="0" rIns="0" bIns="0" rtlCol="0" anchor="ctr"/>
          <a:lstStyle/>
          <a:p>
            <a:pPr algn="r" indent="0" marL="0">
              <a:buNone/>
            </a:pPr>
            <a:r>
              <a:rPr lang="en-US" sz="1600" dirty="0">
                <a:solidFill>
                  <a:srgbClr val="14213D"/>
                </a:solidFill>
                <a:latin typeface="Consolas" pitchFamily="34" charset="0"/>
                <a:ea typeface="Consolas" pitchFamily="34" charset="-122"/>
                <a:cs typeface="Consolas" pitchFamily="34" charset="-120"/>
              </a:rPr>
              <a:t>7</a:t>
            </a:r>
            <a:endParaRPr lang="en-US" sz="1600" dirty="0"/>
          </a:p>
        </p:txBody>
      </p:sp>
      <p:sp>
        <p:nvSpPr>
          <p:cNvPr id="15" name="Text 12"/>
          <p:cNvSpPr txBox="1"/>
          <p:nvPr/>
        </p:nvSpPr>
        <p:spPr>
          <a:xfrm>
            <a:off x="7178040" y="3758184"/>
            <a:ext cx="3291840" cy="475488"/>
          </a:xfrm>
          <a:prstGeom prst="rect">
            <a:avLst/>
          </a:prstGeom>
          <a:noFill/>
          <a:ln/>
        </p:spPr>
        <p:txBody>
          <a:bodyPr wrap="square" lIns="0" tIns="0" rIns="0" bIns="0" rtlCol="0" anchor="ctr"/>
          <a:lstStyle/>
          <a:p>
            <a:pPr indent="0" marL="0">
              <a:buNone/>
            </a:pPr>
            <a:r>
              <a:rPr lang="en-US" sz="1500" dirty="0">
                <a:solidFill>
                  <a:srgbClr val="14213D"/>
                </a:solidFill>
                <a:latin typeface="Calibri" pitchFamily="34" charset="0"/>
                <a:ea typeface="Calibri" pitchFamily="34" charset="-122"/>
                <a:cs typeface="Calibri" pitchFamily="34" charset="-120"/>
              </a:rPr>
              <a:t>application.yml</a:t>
            </a:r>
            <a:endParaRPr lang="en-US" sz="1500" dirty="0"/>
          </a:p>
        </p:txBody>
      </p:sp>
      <p:sp>
        <p:nvSpPr>
          <p:cNvPr id="16" name="Text 13"/>
          <p:cNvSpPr txBox="1"/>
          <p:nvPr/>
        </p:nvSpPr>
        <p:spPr>
          <a:xfrm>
            <a:off x="10607040" y="3758184"/>
            <a:ext cx="731520" cy="475488"/>
          </a:xfrm>
          <a:prstGeom prst="rect">
            <a:avLst/>
          </a:prstGeom>
          <a:noFill/>
          <a:ln/>
        </p:spPr>
        <p:txBody>
          <a:bodyPr wrap="square" lIns="0" tIns="0" rIns="0" bIns="0" rtlCol="0" anchor="ctr"/>
          <a:lstStyle/>
          <a:p>
            <a:pPr algn="r" indent="0" marL="0">
              <a:buNone/>
            </a:pPr>
            <a:r>
              <a:rPr lang="en-US" sz="1600" dirty="0">
                <a:solidFill>
                  <a:srgbClr val="14213D"/>
                </a:solidFill>
                <a:latin typeface="Consolas" pitchFamily="34" charset="0"/>
                <a:ea typeface="Consolas" pitchFamily="34" charset="-122"/>
                <a:cs typeface="Consolas" pitchFamily="34" charset="-120"/>
              </a:rPr>
              <a:t>3</a:t>
            </a:r>
            <a:endParaRPr lang="en-US" sz="1600" dirty="0"/>
          </a:p>
        </p:txBody>
      </p:sp>
      <p:sp>
        <p:nvSpPr>
          <p:cNvPr id="17" name="Text 14"/>
          <p:cNvSpPr txBox="1"/>
          <p:nvPr/>
        </p:nvSpPr>
        <p:spPr>
          <a:xfrm>
            <a:off x="7086600" y="4389120"/>
            <a:ext cx="4389120" cy="457200"/>
          </a:xfrm>
          <a:prstGeom prst="rect">
            <a:avLst/>
          </a:prstGeom>
          <a:noFill/>
          <a:ln/>
        </p:spPr>
        <p:txBody>
          <a:bodyPr wrap="square" lIns="0" tIns="0" rIns="0" bIns="0" rtlCol="0" anchor="t"/>
          <a:lstStyle/>
          <a:p>
            <a:pPr indent="0" marL="0">
              <a:lnSpc>
                <a:spcPct val="108000"/>
              </a:lnSpc>
              <a:spcAft>
                <a:spcPts val="800"/>
              </a:spcAft>
              <a:buNone/>
            </a:pPr>
            <a:r>
              <a:rPr lang="en-US" sz="1250" dirty="0">
                <a:solidFill>
                  <a:srgbClr val="4A5568"/>
                </a:solidFill>
                <a:latin typeface="Calibri" pitchFamily="34" charset="0"/>
                <a:ea typeface="Calibri" pitchFamily="34" charset="-122"/>
                <a:cs typeface="Calibri" pitchFamily="34" charset="-120"/>
              </a:rPr>
              <a:t>With all four set, the app used 9. Higher in the list beats lower.</a:t>
            </a:r>
            <a:endParaRPr lang="en-US" sz="1250" dirty="0"/>
          </a:p>
        </p:txBody>
      </p:sp>
      <p:sp>
        <p:nvSpPr>
          <p:cNvPr id="18" name="Shape 15"/>
          <p:cNvSpPr/>
          <p:nvPr/>
        </p:nvSpPr>
        <p:spPr>
          <a:xfrm>
            <a:off x="685800" y="4846320"/>
            <a:ext cx="10789920" cy="1097280"/>
          </a:xfrm>
          <a:prstGeom prst="rect">
            <a:avLst/>
          </a:prstGeom>
          <a:solidFill>
            <a:srgbClr val="F4F6F9"/>
          </a:solidFill>
          <a:ln w="9525">
            <a:solidFill>
              <a:srgbClr val="D9DEE6"/>
            </a:solidFill>
            <a:prstDash val="solid"/>
          </a:ln>
        </p:spPr>
      </p:sp>
      <p:sp>
        <p:nvSpPr>
          <p:cNvPr id="19" name="Text 16"/>
          <p:cNvSpPr txBox="1"/>
          <p:nvPr/>
        </p:nvSpPr>
        <p:spPr>
          <a:xfrm>
            <a:off x="886968" y="5001768"/>
            <a:ext cx="10424160" cy="822960"/>
          </a:xfrm>
          <a:prstGeom prst="rect">
            <a:avLst/>
          </a:prstGeom>
          <a:noFill/>
          <a:ln/>
        </p:spPr>
        <p:txBody>
          <a:bodyPr wrap="square" lIns="0" tIns="0" rIns="0" bIns="0" rtlCol="0" anchor="t"/>
          <a:lstStyle/>
          <a:p>
            <a:pPr indent="0" marL="0">
              <a:buNone/>
            </a:pPr>
            <a:r>
              <a:rPr lang="en-US" sz="1350" dirty="0">
                <a:solidFill>
                  <a:srgbClr val="14213D"/>
                </a:solidFill>
                <a:latin typeface="Consolas" pitchFamily="34" charset="0"/>
                <a:ea typeface="Consolas" pitchFamily="34" charset="-122"/>
                <a:cs typeface="Consolas" pitchFamily="34" charset="-120"/>
              </a:rPr>
              <a:t>--app.mail.retry-count=99</a:t>
            </a:r>
            <a:endParaRPr lang="en-US" sz="1350" dirty="0"/>
          </a:p>
          <a:p>
            <a:pPr indent="0" marL="0">
              <a:buNone/>
            </a:pPr>
            <a:r>
              <a:rPr lang="en-US" sz="1350" dirty="0">
                <a:solidFill>
                  <a:srgbClr val="14213D"/>
                </a:solidFill>
                <a:latin typeface="Consolas" pitchFamily="34" charset="0"/>
                <a:ea typeface="Consolas" pitchFamily="34" charset="-122"/>
                <a:cs typeface="Consolas" pitchFamily="34" charset="-120"/>
              </a:rPr>
              <a:t>Value: "99"</a:t>
            </a:r>
            <a:endParaRPr lang="en-US" sz="1350" dirty="0"/>
          </a:p>
          <a:p>
            <a:pPr indent="0" marL="0">
              <a:buNone/>
            </a:pPr>
            <a:r>
              <a:rPr lang="en-US" sz="1350" b="1" dirty="0">
                <a:solidFill>
                  <a:srgbClr val="C0392B"/>
                </a:solidFill>
                <a:latin typeface="Consolas" pitchFamily="34" charset="0"/>
                <a:ea typeface="Consolas" pitchFamily="34" charset="-122"/>
                <a:cs typeface="Consolas" pitchFamily="34" charset="-120"/>
              </a:rPr>
              <a:t>Reason: must be less than or equal to 10</a:t>
            </a:r>
            <a:endParaRPr lang="en-US" sz="1350" dirty="0"/>
          </a:p>
        </p:txBody>
      </p:sp>
      <p:sp>
        <p:nvSpPr>
          <p:cNvPr id="25" name="Slide Number Placeholder 0"/>
          <p:cNvSpPr>
            <a:spLocks noGrp="1"/>
          </p:cNvSpPr>
          <p:nvPr>
            <p:ph type="sldNum" sz="quarter" idx="4294967295"/>
          </p:nvPr>
        </p:nvSpPr>
        <p:spPr>
          <a:xfrm>
            <a:off x="1106424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85800" y="274320"/>
            <a:ext cx="685800" cy="237744"/>
          </a:xfrm>
          <a:prstGeom prst="rect">
            <a:avLst/>
          </a:prstGeom>
          <a:solidFill>
            <a:srgbClr val="FFD54A"/>
          </a:solidFill>
          <a:ln w="12700">
            <a:solidFill>
              <a:srgbClr val="FFD54A"/>
            </a:solidFill>
            <a:prstDash val="solid"/>
          </a:ln>
        </p:spPr>
      </p:sp>
      <p:sp>
        <p:nvSpPr>
          <p:cNvPr id="3" name="Text 1"/>
          <p:cNvSpPr txBox="1"/>
          <p:nvPr/>
        </p:nvSpPr>
        <p:spPr>
          <a:xfrm>
            <a:off x="685800" y="274320"/>
            <a:ext cx="685800" cy="237744"/>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Lab 4</a:t>
            </a:r>
            <a:endParaRPr lang="en-US" sz="1100" dirty="0"/>
          </a:p>
        </p:txBody>
      </p:sp>
      <p:sp>
        <p:nvSpPr>
          <p:cNvPr id="4" name="Text 0"/>
          <p:cNvSpPr/>
          <p:nvPr>
            <p:ph idx="100" type="title" hasCustomPrompt="1"/>
          </p:nvPr>
        </p:nvSpPr>
        <p:spPr>
          <a:xfrm>
            <a:off x="685800" y="566928"/>
            <a:ext cx="10789920" cy="822960"/>
          </a:xfrm>
          <a:prstGeom prst="rect">
            <a:avLst/>
          </a:prstGeom>
          <a:noFill/>
          <a:ln/>
        </p:spPr>
        <p:txBody>
          <a:bodyPr wrap="square" lIns="0" tIns="0" rIns="0" bIns="0" rtlCol="0" anchor="t"/>
          <a:lstStyle/>
          <a:p>
            <a:pPr algn="l" indent="0" marL="0">
              <a:buNone/>
            </a:pPr>
            <a:r>
              <a:rPr lang="en-US" sz="3200" b="1" dirty="0">
                <a:solidFill>
                  <a:srgbClr val="14213D"/>
                </a:solidFill>
                <a:latin typeface="Georgia" pitchFamily="34" charset="0"/>
                <a:ea typeface="Georgia" pitchFamily="34" charset="-122"/>
                <a:cs typeface="Georgia" pitchFamily="34" charset="-120"/>
              </a:rPr>
              <a:t>Three aspects wrapped around one method</a:t>
            </a:r>
            <a:endParaRPr lang="en-US" sz="3200" dirty="0"/>
          </a:p>
        </p:txBody>
      </p:sp>
      <p:sp>
        <p:nvSpPr>
          <p:cNvPr id="5" name="Shape 3"/>
          <p:cNvSpPr/>
          <p:nvPr/>
        </p:nvSpPr>
        <p:spPr>
          <a:xfrm>
            <a:off x="685800" y="1554480"/>
            <a:ext cx="5120640" cy="3931920"/>
          </a:xfrm>
          <a:prstGeom prst="roundRect">
            <a:avLst>
              <a:gd name="adj" fmla="val 2791"/>
            </a:avLst>
          </a:prstGeom>
          <a:solidFill>
            <a:srgbClr val="F4F6F9"/>
          </a:solidFill>
          <a:ln w="12700">
            <a:solidFill>
              <a:srgbClr val="14213D"/>
            </a:solidFill>
            <a:prstDash val="solid"/>
          </a:ln>
        </p:spPr>
      </p:sp>
      <p:sp>
        <p:nvSpPr>
          <p:cNvPr id="6" name="Text 4"/>
          <p:cNvSpPr txBox="1"/>
          <p:nvPr/>
        </p:nvSpPr>
        <p:spPr>
          <a:xfrm>
            <a:off x="868680" y="1627632"/>
            <a:ext cx="3657600" cy="274320"/>
          </a:xfrm>
          <a:prstGeom prst="rect">
            <a:avLst/>
          </a:prstGeom>
          <a:noFill/>
          <a:ln/>
        </p:spPr>
        <p:txBody>
          <a:bodyPr wrap="square" lIns="0" tIns="0" rIns="0" bIns="0" rtlCol="0" anchor="ctr"/>
          <a:lstStyle/>
          <a:p>
            <a:pPr indent="0" marL="0">
              <a:buNone/>
            </a:pPr>
            <a:r>
              <a:rPr lang="en-US" sz="1200" dirty="0">
                <a:solidFill>
                  <a:srgbClr val="14213D"/>
                </a:solidFill>
                <a:latin typeface="Consolas" pitchFamily="34" charset="0"/>
                <a:ea typeface="Consolas" pitchFamily="34" charset="-122"/>
                <a:cs typeface="Consolas" pitchFamily="34" charset="-120"/>
              </a:rPr>
              <a:t>AuditAspect  @Order(1)</a:t>
            </a:r>
            <a:endParaRPr lang="en-US" sz="1200" dirty="0"/>
          </a:p>
        </p:txBody>
      </p:sp>
      <p:sp>
        <p:nvSpPr>
          <p:cNvPr id="7" name="Shape 5"/>
          <p:cNvSpPr/>
          <p:nvPr/>
        </p:nvSpPr>
        <p:spPr>
          <a:xfrm>
            <a:off x="1069848" y="1938528"/>
            <a:ext cx="4352544" cy="3163824"/>
          </a:xfrm>
          <a:prstGeom prst="roundRect">
            <a:avLst>
              <a:gd name="adj" fmla="val 3468"/>
            </a:avLst>
          </a:prstGeom>
          <a:solidFill>
            <a:srgbClr val="FFFFFF"/>
          </a:solidFill>
          <a:ln w="12700">
            <a:solidFill>
              <a:srgbClr val="14213D"/>
            </a:solidFill>
            <a:prstDash val="dash"/>
          </a:ln>
        </p:spPr>
      </p:sp>
      <p:sp>
        <p:nvSpPr>
          <p:cNvPr id="8" name="Text 6"/>
          <p:cNvSpPr txBox="1"/>
          <p:nvPr/>
        </p:nvSpPr>
        <p:spPr>
          <a:xfrm>
            <a:off x="1252728" y="2011680"/>
            <a:ext cx="3657600" cy="274320"/>
          </a:xfrm>
          <a:prstGeom prst="rect">
            <a:avLst/>
          </a:prstGeom>
          <a:noFill/>
          <a:ln/>
        </p:spPr>
        <p:txBody>
          <a:bodyPr wrap="square" lIns="0" tIns="0" rIns="0" bIns="0" rtlCol="0" anchor="ctr"/>
          <a:lstStyle/>
          <a:p>
            <a:pPr indent="0" marL="0">
              <a:buNone/>
            </a:pPr>
            <a:r>
              <a:rPr lang="en-US" sz="1200" dirty="0">
                <a:solidFill>
                  <a:srgbClr val="14213D"/>
                </a:solidFill>
                <a:latin typeface="Consolas" pitchFamily="34" charset="0"/>
                <a:ea typeface="Consolas" pitchFamily="34" charset="-122"/>
                <a:cs typeface="Consolas" pitchFamily="34" charset="-120"/>
              </a:rPr>
              <a:t>LoggingAspect  @Order(2)</a:t>
            </a:r>
            <a:endParaRPr lang="en-US" sz="1200" dirty="0"/>
          </a:p>
        </p:txBody>
      </p:sp>
      <p:sp>
        <p:nvSpPr>
          <p:cNvPr id="9" name="Shape 7"/>
          <p:cNvSpPr/>
          <p:nvPr/>
        </p:nvSpPr>
        <p:spPr>
          <a:xfrm>
            <a:off x="1453896" y="2322576"/>
            <a:ext cx="3584448" cy="2395728"/>
          </a:xfrm>
          <a:prstGeom prst="roundRect">
            <a:avLst>
              <a:gd name="adj" fmla="val 4580"/>
            </a:avLst>
          </a:prstGeom>
          <a:solidFill>
            <a:srgbClr val="FFFFFF"/>
          </a:solidFill>
          <a:ln w="12700">
            <a:solidFill>
              <a:srgbClr val="14213D"/>
            </a:solidFill>
            <a:prstDash val="dash"/>
          </a:ln>
        </p:spPr>
      </p:sp>
      <p:sp>
        <p:nvSpPr>
          <p:cNvPr id="10" name="Text 8"/>
          <p:cNvSpPr txBox="1"/>
          <p:nvPr/>
        </p:nvSpPr>
        <p:spPr>
          <a:xfrm>
            <a:off x="1636776" y="2395728"/>
            <a:ext cx="3657600" cy="274320"/>
          </a:xfrm>
          <a:prstGeom prst="rect">
            <a:avLst/>
          </a:prstGeom>
          <a:noFill/>
          <a:ln/>
        </p:spPr>
        <p:txBody>
          <a:bodyPr wrap="square" lIns="0" tIns="0" rIns="0" bIns="0" rtlCol="0" anchor="ctr"/>
          <a:lstStyle/>
          <a:p>
            <a:pPr indent="0" marL="0">
              <a:buNone/>
            </a:pPr>
            <a:r>
              <a:rPr lang="en-US" sz="1200" dirty="0">
                <a:solidFill>
                  <a:srgbClr val="14213D"/>
                </a:solidFill>
                <a:latin typeface="Consolas" pitchFamily="34" charset="0"/>
                <a:ea typeface="Consolas" pitchFamily="34" charset="-122"/>
                <a:cs typeface="Consolas" pitchFamily="34" charset="-120"/>
              </a:rPr>
              <a:t>TimingAspect  @Order(3)</a:t>
            </a:r>
            <a:endParaRPr lang="en-US" sz="1200" dirty="0"/>
          </a:p>
        </p:txBody>
      </p:sp>
      <p:sp>
        <p:nvSpPr>
          <p:cNvPr id="11" name="Shape 9"/>
          <p:cNvSpPr/>
          <p:nvPr/>
        </p:nvSpPr>
        <p:spPr>
          <a:xfrm>
            <a:off x="2331720" y="3246120"/>
            <a:ext cx="1828800" cy="457200"/>
          </a:xfrm>
          <a:prstGeom prst="rect">
            <a:avLst/>
          </a:prstGeom>
          <a:solidFill>
            <a:srgbClr val="FFD54A">
              <a:alpha val="75000"/>
            </a:srgbClr>
          </a:solidFill>
          <a:ln w="12700">
            <a:solidFill>
              <a:srgbClr val="FFD54A">
                <a:alpha val="0"/>
              </a:srgbClr>
            </a:solidFill>
            <a:prstDash val="solid"/>
          </a:ln>
        </p:spPr>
      </p:sp>
      <p:sp>
        <p:nvSpPr>
          <p:cNvPr id="12" name="Text 10"/>
          <p:cNvSpPr txBox="1"/>
          <p:nvPr/>
        </p:nvSpPr>
        <p:spPr>
          <a:xfrm>
            <a:off x="2331720" y="3246120"/>
            <a:ext cx="182880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nsolas" pitchFamily="34" charset="0"/>
                <a:ea typeface="Consolas" pitchFamily="34" charset="-122"/>
                <a:cs typeface="Consolas" pitchFamily="34" charset="-120"/>
              </a:rPr>
              <a:t>findAll(5)</a:t>
            </a:r>
            <a:endParaRPr lang="en-US" sz="1600" dirty="0"/>
          </a:p>
        </p:txBody>
      </p:sp>
      <p:sp>
        <p:nvSpPr>
          <p:cNvPr id="13" name="Shape 11"/>
          <p:cNvSpPr/>
          <p:nvPr/>
        </p:nvSpPr>
        <p:spPr>
          <a:xfrm>
            <a:off x="6172200" y="1554480"/>
            <a:ext cx="5303520" cy="1828800"/>
          </a:xfrm>
          <a:prstGeom prst="rect">
            <a:avLst/>
          </a:prstGeom>
          <a:solidFill>
            <a:srgbClr val="F4F6F9"/>
          </a:solidFill>
          <a:ln w="9525">
            <a:solidFill>
              <a:srgbClr val="D9DEE6"/>
            </a:solidFill>
            <a:prstDash val="solid"/>
          </a:ln>
        </p:spPr>
      </p:sp>
      <p:sp>
        <p:nvSpPr>
          <p:cNvPr id="14" name="Text 12"/>
          <p:cNvSpPr txBox="1"/>
          <p:nvPr/>
        </p:nvSpPr>
        <p:spPr>
          <a:xfrm>
            <a:off x="6373368" y="1709928"/>
            <a:ext cx="4937760" cy="1554480"/>
          </a:xfrm>
          <a:prstGeom prst="rect">
            <a:avLst/>
          </a:prstGeom>
          <a:noFill/>
          <a:ln/>
        </p:spPr>
        <p:txBody>
          <a:bodyPr wrap="square" lIns="0" tIns="0" rIns="0" bIns="0" rtlCol="0" anchor="t"/>
          <a:lstStyle/>
          <a:p>
            <a:pPr indent="0" marL="0">
              <a:buNone/>
            </a:pPr>
            <a:r>
              <a:rPr lang="en-US" sz="1300" dirty="0">
                <a:solidFill>
                  <a:srgbClr val="14213D"/>
                </a:solidFill>
                <a:latin typeface="Consolas" pitchFamily="34" charset="0"/>
                <a:ea typeface="Consolas" pitchFamily="34" charset="-122"/>
                <a:cs typeface="Consolas" pitchFamily="34" charset="-120"/>
              </a:rPr>
              <a:t>[AUDIT] start CATALOG_LIST args=[5]</a:t>
            </a:r>
            <a:endParaRPr lang="en-US" sz="1300" dirty="0"/>
          </a:p>
          <a:p>
            <a:pPr indent="0" marL="0">
              <a:buNone/>
            </a:pPr>
            <a:r>
              <a:rPr lang="en-US" sz="1300" dirty="0">
                <a:solidFill>
                  <a:srgbClr val="14213D"/>
                </a:solidFill>
                <a:latin typeface="Consolas" pitchFamily="34" charset="0"/>
                <a:ea typeface="Consolas" pitchFamily="34" charset="-122"/>
                <a:cs typeface="Consolas" pitchFamily="34" charset="-120"/>
              </a:rPr>
              <a:t>[LOG] -&gt; findAll(..) args=[5]</a:t>
            </a:r>
            <a:endParaRPr lang="en-US" sz="1300" dirty="0"/>
          </a:p>
          <a:p>
            <a:pPr indent="0" marL="0">
              <a:buNone/>
            </a:pPr>
            <a:r>
              <a:rPr lang="en-US" sz="1300" dirty="0">
                <a:solidFill>
                  <a:srgbClr val="14213D"/>
                </a:solidFill>
                <a:latin typeface="Consolas" pitchFamily="34" charset="0"/>
                <a:ea typeface="Consolas" pitchFamily="34" charset="-122"/>
                <a:cs typeface="Consolas" pitchFamily="34" charset="-120"/>
              </a:rPr>
              <a:t>[TIME] SLOW: findAll(..) --- 309 ms</a:t>
            </a:r>
            <a:endParaRPr lang="en-US" sz="1300" dirty="0"/>
          </a:p>
          <a:p>
            <a:pPr indent="0" marL="0">
              <a:buNone/>
            </a:pPr>
            <a:r>
              <a:rPr lang="en-US" sz="1300" dirty="0">
                <a:solidFill>
                  <a:srgbClr val="14213D"/>
                </a:solidFill>
                <a:latin typeface="Consolas" pitchFamily="34" charset="0"/>
                <a:ea typeface="Consolas" pitchFamily="34" charset="-122"/>
                <a:cs typeface="Consolas" pitchFamily="34" charset="-120"/>
              </a:rPr>
              <a:t>[LOG] &lt;- findAll(..) returned 5 items</a:t>
            </a:r>
            <a:endParaRPr lang="en-US" sz="1300" dirty="0"/>
          </a:p>
          <a:p>
            <a:pPr indent="0" marL="0">
              <a:buNone/>
            </a:pPr>
            <a:r>
              <a:rPr lang="en-US" sz="1300" dirty="0">
                <a:solidFill>
                  <a:srgbClr val="14213D"/>
                </a:solidFill>
                <a:latin typeface="Consolas" pitchFamily="34" charset="0"/>
                <a:ea typeface="Consolas" pitchFamily="34" charset="-122"/>
                <a:cs typeface="Consolas" pitchFamily="34" charset="-120"/>
              </a:rPr>
              <a:t>[AUDIT] CATALOG_LIST success</a:t>
            </a:r>
            <a:endParaRPr lang="en-US" sz="1300" dirty="0"/>
          </a:p>
        </p:txBody>
      </p:sp>
      <p:sp>
        <p:nvSpPr>
          <p:cNvPr id="15" name="Text 13"/>
          <p:cNvSpPr txBox="1"/>
          <p:nvPr/>
        </p:nvSpPr>
        <p:spPr>
          <a:xfrm>
            <a:off x="6172200" y="3474720"/>
            <a:ext cx="5303520" cy="365760"/>
          </a:xfrm>
          <a:prstGeom prst="rect">
            <a:avLst/>
          </a:prstGeom>
          <a:noFill/>
          <a:ln/>
        </p:spPr>
        <p:txBody>
          <a:bodyPr wrap="square" lIns="0" tIns="0" rIns="0" bIns="0" rtlCol="0" anchor="t"/>
          <a:lstStyle/>
          <a:p>
            <a:pPr indent="0" marL="0">
              <a:lnSpc>
                <a:spcPct val="108000"/>
              </a:lnSpc>
              <a:spcAft>
                <a:spcPts val="800"/>
              </a:spcAft>
              <a:buNone/>
            </a:pPr>
            <a:r>
              <a:rPr lang="en-US" sz="1250" dirty="0">
                <a:solidFill>
                  <a:srgbClr val="4A5568"/>
                </a:solidFill>
                <a:latin typeface="Calibri" pitchFamily="34" charset="0"/>
                <a:ea typeface="Calibri" pitchFamily="34" charset="-122"/>
                <a:cs typeface="Calibri" pitchFamily="34" charset="-120"/>
              </a:rPr>
              <a:t>The log reads from the outside in and back out, exactly in @Order.</a:t>
            </a:r>
            <a:endParaRPr lang="en-US" sz="1250" dirty="0"/>
          </a:p>
        </p:txBody>
      </p:sp>
      <p:sp>
        <p:nvSpPr>
          <p:cNvPr id="16" name="Text 14"/>
          <p:cNvSpPr txBox="1"/>
          <p:nvPr/>
        </p:nvSpPr>
        <p:spPr>
          <a:xfrm>
            <a:off x="6172200" y="4023360"/>
            <a:ext cx="5303520" cy="1280160"/>
          </a:xfrm>
          <a:prstGeom prst="rect">
            <a:avLst/>
          </a:prstGeom>
          <a:noFill/>
          <a:ln/>
        </p:spPr>
        <p:txBody>
          <a:bodyPr wrap="square" lIns="0" tIns="0" rIns="0" bIns="0" rtlCol="0" anchor="t"/>
          <a:lstStyle/>
          <a:p>
            <a:pPr indent="0" marL="0">
              <a:lnSpc>
                <a:spcPct val="108000"/>
              </a:lnSpc>
              <a:spcAft>
                <a:spcPts val="800"/>
              </a:spcAft>
              <a:buNone/>
            </a:pPr>
            <a:r>
              <a:rPr lang="en-US" sz="1500" b="1" dirty="0">
                <a:solidFill>
                  <a:srgbClr val="14213D"/>
                </a:solidFill>
                <a:latin typeface="Calibri" pitchFamily="34" charset="0"/>
                <a:ea typeface="Calibri" pitchFamily="34" charset="-122"/>
                <a:cs typeface="Calibri" pitchFamily="34" charset="-120"/>
              </a:rPr>
              <a:t>Where it bit us. </a:t>
            </a:r>
            <a:pPr indent="0" marL="0">
              <a:lnSpc>
                <a:spcPct val="108000"/>
              </a:lnSpc>
              <a:spcAft>
                <a:spcPts val="800"/>
              </a:spcAft>
              <a:buNone/>
            </a:pPr>
            <a:r>
              <a:rPr lang="en-US" sz="1500" dirty="0">
                <a:solidFill>
                  <a:srgbClr val="14213D"/>
                </a:solidFill>
                <a:latin typeface="Calibri" pitchFamily="34" charset="0"/>
                <a:ea typeface="Calibri" pitchFamily="34" charset="-122"/>
                <a:cs typeface="Calibri" pitchFamily="34" charset="-120"/>
              </a:rPr>
              <a:t>Spring hands out a CGLIB proxy, not the real service. removeTwice() called remove() on "this", so the audit saw 0 calls. Through a lazy self-reference it saw 2.</a:t>
            </a:r>
            <a:endParaRPr lang="en-US" sz="1500" dirty="0"/>
          </a:p>
        </p:txBody>
      </p:sp>
      <p:sp>
        <p:nvSpPr>
          <p:cNvPr id="17" name="Text 15"/>
          <p:cNvSpPr txBox="1"/>
          <p:nvPr/>
        </p:nvSpPr>
        <p:spPr>
          <a:xfrm>
            <a:off x="6172200" y="5394960"/>
            <a:ext cx="5303520" cy="457200"/>
          </a:xfrm>
          <a:prstGeom prst="rect">
            <a:avLst/>
          </a:prstGeom>
          <a:noFill/>
          <a:ln/>
        </p:spPr>
        <p:txBody>
          <a:bodyPr wrap="square" lIns="0" tIns="0" rIns="0" bIns="0" rtlCol="0" anchor="t"/>
          <a:lstStyle/>
          <a:p>
            <a:pPr indent="0" marL="0">
              <a:lnSpc>
                <a:spcPct val="108000"/>
              </a:lnSpc>
              <a:spcAft>
                <a:spcPts val="800"/>
              </a:spcAft>
              <a:buNone/>
            </a:pPr>
            <a:r>
              <a:rPr lang="en-US" sz="1250" dirty="0">
                <a:solidFill>
                  <a:srgbClr val="4A5568"/>
                </a:solidFill>
                <a:latin typeface="Calibri" pitchFamily="34" charset="0"/>
                <a:ea typeface="Calibri" pitchFamily="34" charset="-122"/>
                <a:cs typeface="Calibri" pitchFamily="34" charset="-120"/>
              </a:rPr>
              <a:t>Our variant counts calls per method: remove 4, findAll 1, findById 1.</a:t>
            </a:r>
            <a:endParaRPr lang="en-US" sz="1250" dirty="0"/>
          </a:p>
        </p:txBody>
      </p:sp>
      <p:sp>
        <p:nvSpPr>
          <p:cNvPr id="25" name="Slide Number Placeholder 0"/>
          <p:cNvSpPr>
            <a:spLocks noGrp="1"/>
          </p:cNvSpPr>
          <p:nvPr>
            <p:ph type="sldNum" sz="quarter" idx="4294967295"/>
          </p:nvPr>
        </p:nvSpPr>
        <p:spPr>
          <a:xfrm>
            <a:off x="1106424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85800" y="274320"/>
            <a:ext cx="685800" cy="237744"/>
          </a:xfrm>
          <a:prstGeom prst="rect">
            <a:avLst/>
          </a:prstGeom>
          <a:solidFill>
            <a:srgbClr val="FFD54A"/>
          </a:solidFill>
          <a:ln w="12700">
            <a:solidFill>
              <a:srgbClr val="FFD54A"/>
            </a:solidFill>
            <a:prstDash val="solid"/>
          </a:ln>
        </p:spPr>
      </p:sp>
      <p:sp>
        <p:nvSpPr>
          <p:cNvPr id="3" name="Text 1"/>
          <p:cNvSpPr txBox="1"/>
          <p:nvPr/>
        </p:nvSpPr>
        <p:spPr>
          <a:xfrm>
            <a:off x="685800" y="274320"/>
            <a:ext cx="685800" cy="237744"/>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Lab 5</a:t>
            </a:r>
            <a:endParaRPr lang="en-US" sz="1100" dirty="0"/>
          </a:p>
        </p:txBody>
      </p:sp>
      <p:sp>
        <p:nvSpPr>
          <p:cNvPr id="4" name="Text 0"/>
          <p:cNvSpPr/>
          <p:nvPr>
            <p:ph idx="100" type="title" hasCustomPrompt="1"/>
          </p:nvPr>
        </p:nvSpPr>
        <p:spPr>
          <a:xfrm>
            <a:off x="685800" y="566928"/>
            <a:ext cx="10789920" cy="822960"/>
          </a:xfrm>
          <a:prstGeom prst="rect">
            <a:avLst/>
          </a:prstGeom>
          <a:noFill/>
          <a:ln/>
        </p:spPr>
        <p:txBody>
          <a:bodyPr wrap="square" lIns="0" tIns="0" rIns="0" bIns="0" rtlCol="0" anchor="t"/>
          <a:lstStyle/>
          <a:p>
            <a:pPr algn="l" indent="0" marL="0">
              <a:buNone/>
            </a:pPr>
            <a:r>
              <a:rPr lang="en-US" sz="3200" b="1" dirty="0">
                <a:solidFill>
                  <a:srgbClr val="14213D"/>
                </a:solidFill>
                <a:latin typeface="Georgia" pitchFamily="34" charset="0"/>
                <a:ea typeface="Georgia" pitchFamily="34" charset="-122"/>
                <a:cs typeface="Georgia" pitchFamily="34" charset="-120"/>
              </a:rPr>
              <a:t>Every mistake gets its own status code</a:t>
            </a:r>
            <a:endParaRPr lang="en-US" sz="3200" dirty="0"/>
          </a:p>
        </p:txBody>
      </p:sp>
      <p:sp>
        <p:nvSpPr>
          <p:cNvPr id="5" name="Text 3"/>
          <p:cNvSpPr txBox="1"/>
          <p:nvPr/>
        </p:nvSpPr>
        <p:spPr>
          <a:xfrm>
            <a:off x="685800" y="1600200"/>
            <a:ext cx="2011680" cy="822960"/>
          </a:xfrm>
          <a:prstGeom prst="rect">
            <a:avLst/>
          </a:prstGeom>
          <a:noFill/>
          <a:ln/>
        </p:spPr>
        <p:txBody>
          <a:bodyPr wrap="square" lIns="0" tIns="0" rIns="0" bIns="0" rtlCol="0" anchor="ctr"/>
          <a:lstStyle/>
          <a:p>
            <a:pPr indent="0" marL="0">
              <a:buNone/>
            </a:pPr>
            <a:r>
              <a:rPr lang="en-US" sz="4600" b="1" dirty="0">
                <a:solidFill>
                  <a:srgbClr val="C0392B"/>
                </a:solidFill>
                <a:latin typeface="Georgia" pitchFamily="34" charset="0"/>
                <a:ea typeface="Georgia" pitchFamily="34" charset="-122"/>
                <a:cs typeface="Georgia" pitchFamily="34" charset="-120"/>
              </a:rPr>
              <a:t>400</a:t>
            </a:r>
            <a:endParaRPr lang="en-US" sz="4600" dirty="0"/>
          </a:p>
        </p:txBody>
      </p:sp>
      <p:sp>
        <p:nvSpPr>
          <p:cNvPr id="6" name="Text 4"/>
          <p:cNvSpPr txBox="1"/>
          <p:nvPr/>
        </p:nvSpPr>
        <p:spPr>
          <a:xfrm>
            <a:off x="685800" y="2468880"/>
            <a:ext cx="2011680" cy="320040"/>
          </a:xfrm>
          <a:prstGeom prst="rect">
            <a:avLst/>
          </a:prstGeom>
          <a:noFill/>
          <a:ln/>
        </p:spPr>
        <p:txBody>
          <a:bodyPr wrap="square" lIns="0" tIns="0" rIns="0" bIns="0" rtlCol="0" anchor="ctr"/>
          <a:lstStyle/>
          <a:p>
            <a:pPr indent="0" marL="0">
              <a:buNone/>
            </a:pPr>
            <a:r>
              <a:rPr lang="en-US" sz="1150" dirty="0">
                <a:solidFill>
                  <a:srgbClr val="14213D"/>
                </a:solidFill>
                <a:latin typeface="Consolas" pitchFamily="34" charset="0"/>
                <a:ea typeface="Consolas" pitchFamily="34" charset="-122"/>
                <a:cs typeface="Consolas" pitchFamily="34" charset="-120"/>
              </a:rPr>
              <a:t>/api/books/abc</a:t>
            </a:r>
            <a:endParaRPr lang="en-US" sz="1150" dirty="0"/>
          </a:p>
        </p:txBody>
      </p:sp>
      <p:sp>
        <p:nvSpPr>
          <p:cNvPr id="7" name="Text 5"/>
          <p:cNvSpPr txBox="1"/>
          <p:nvPr/>
        </p:nvSpPr>
        <p:spPr>
          <a:xfrm>
            <a:off x="685800" y="2788920"/>
            <a:ext cx="2011680" cy="3657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id is not a number</a:t>
            </a:r>
            <a:endParaRPr lang="en-US" sz="1300" dirty="0"/>
          </a:p>
        </p:txBody>
      </p:sp>
      <p:sp>
        <p:nvSpPr>
          <p:cNvPr id="8" name="Text 6"/>
          <p:cNvSpPr txBox="1"/>
          <p:nvPr/>
        </p:nvSpPr>
        <p:spPr>
          <a:xfrm>
            <a:off x="2862072" y="1600200"/>
            <a:ext cx="2011680" cy="822960"/>
          </a:xfrm>
          <a:prstGeom prst="rect">
            <a:avLst/>
          </a:prstGeom>
          <a:noFill/>
          <a:ln/>
        </p:spPr>
        <p:txBody>
          <a:bodyPr wrap="square" lIns="0" tIns="0" rIns="0" bIns="0" rtlCol="0" anchor="ctr"/>
          <a:lstStyle/>
          <a:p>
            <a:pPr indent="0" marL="0">
              <a:buNone/>
            </a:pPr>
            <a:r>
              <a:rPr lang="en-US" sz="4600" b="1" dirty="0">
                <a:solidFill>
                  <a:srgbClr val="C0392B"/>
                </a:solidFill>
                <a:latin typeface="Georgia" pitchFamily="34" charset="0"/>
                <a:ea typeface="Georgia" pitchFamily="34" charset="-122"/>
                <a:cs typeface="Georgia" pitchFamily="34" charset="-120"/>
              </a:rPr>
              <a:t>404</a:t>
            </a:r>
            <a:endParaRPr lang="en-US" sz="4600" dirty="0"/>
          </a:p>
        </p:txBody>
      </p:sp>
      <p:sp>
        <p:nvSpPr>
          <p:cNvPr id="9" name="Text 7"/>
          <p:cNvSpPr txBox="1"/>
          <p:nvPr/>
        </p:nvSpPr>
        <p:spPr>
          <a:xfrm>
            <a:off x="2862072" y="2468880"/>
            <a:ext cx="2011680" cy="320040"/>
          </a:xfrm>
          <a:prstGeom prst="rect">
            <a:avLst/>
          </a:prstGeom>
          <a:noFill/>
          <a:ln/>
        </p:spPr>
        <p:txBody>
          <a:bodyPr wrap="square" lIns="0" tIns="0" rIns="0" bIns="0" rtlCol="0" anchor="ctr"/>
          <a:lstStyle/>
          <a:p>
            <a:pPr indent="0" marL="0">
              <a:buNone/>
            </a:pPr>
            <a:r>
              <a:rPr lang="en-US" sz="1150" dirty="0">
                <a:solidFill>
                  <a:srgbClr val="14213D"/>
                </a:solidFill>
                <a:latin typeface="Consolas" pitchFamily="34" charset="0"/>
                <a:ea typeface="Consolas" pitchFamily="34" charset="-122"/>
                <a:cs typeface="Consolas" pitchFamily="34" charset="-120"/>
              </a:rPr>
              <a:t>/api/nothing</a:t>
            </a:r>
            <a:endParaRPr lang="en-US" sz="1150" dirty="0"/>
          </a:p>
        </p:txBody>
      </p:sp>
      <p:sp>
        <p:nvSpPr>
          <p:cNvPr id="10" name="Text 8"/>
          <p:cNvSpPr txBox="1"/>
          <p:nvPr/>
        </p:nvSpPr>
        <p:spPr>
          <a:xfrm>
            <a:off x="2862072" y="2788920"/>
            <a:ext cx="2011680" cy="3657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no such path</a:t>
            </a:r>
            <a:endParaRPr lang="en-US" sz="1300" dirty="0"/>
          </a:p>
        </p:txBody>
      </p:sp>
      <p:sp>
        <p:nvSpPr>
          <p:cNvPr id="11" name="Text 9"/>
          <p:cNvSpPr txBox="1"/>
          <p:nvPr/>
        </p:nvSpPr>
        <p:spPr>
          <a:xfrm>
            <a:off x="5038344" y="1600200"/>
            <a:ext cx="2011680" cy="822960"/>
          </a:xfrm>
          <a:prstGeom prst="rect">
            <a:avLst/>
          </a:prstGeom>
          <a:noFill/>
          <a:ln/>
        </p:spPr>
        <p:txBody>
          <a:bodyPr wrap="square" lIns="0" tIns="0" rIns="0" bIns="0" rtlCol="0" anchor="ctr"/>
          <a:lstStyle/>
          <a:p>
            <a:pPr indent="0" marL="0">
              <a:buNone/>
            </a:pPr>
            <a:r>
              <a:rPr lang="en-US" sz="4600" b="1" dirty="0">
                <a:solidFill>
                  <a:srgbClr val="C0392B"/>
                </a:solidFill>
                <a:latin typeface="Georgia" pitchFamily="34" charset="0"/>
                <a:ea typeface="Georgia" pitchFamily="34" charset="-122"/>
                <a:cs typeface="Georgia" pitchFamily="34" charset="-120"/>
              </a:rPr>
              <a:t>405</a:t>
            </a:r>
            <a:endParaRPr lang="en-US" sz="4600" dirty="0"/>
          </a:p>
        </p:txBody>
      </p:sp>
      <p:sp>
        <p:nvSpPr>
          <p:cNvPr id="12" name="Text 10"/>
          <p:cNvSpPr txBox="1"/>
          <p:nvPr/>
        </p:nvSpPr>
        <p:spPr>
          <a:xfrm>
            <a:off x="5038344" y="2468880"/>
            <a:ext cx="2011680" cy="320040"/>
          </a:xfrm>
          <a:prstGeom prst="rect">
            <a:avLst/>
          </a:prstGeom>
          <a:noFill/>
          <a:ln/>
        </p:spPr>
        <p:txBody>
          <a:bodyPr wrap="square" lIns="0" tIns="0" rIns="0" bIns="0" rtlCol="0" anchor="ctr"/>
          <a:lstStyle/>
          <a:p>
            <a:pPr indent="0" marL="0">
              <a:buNone/>
            </a:pPr>
            <a:r>
              <a:rPr lang="en-US" sz="1150" dirty="0">
                <a:solidFill>
                  <a:srgbClr val="14213D"/>
                </a:solidFill>
                <a:latin typeface="Consolas" pitchFamily="34" charset="0"/>
                <a:ea typeface="Consolas" pitchFamily="34" charset="-122"/>
                <a:cs typeface="Consolas" pitchFamily="34" charset="-120"/>
              </a:rPr>
              <a:t>DELETE /api/books</a:t>
            </a:r>
            <a:endParaRPr lang="en-US" sz="1150" dirty="0"/>
          </a:p>
        </p:txBody>
      </p:sp>
      <p:sp>
        <p:nvSpPr>
          <p:cNvPr id="13" name="Text 11"/>
          <p:cNvSpPr txBox="1"/>
          <p:nvPr/>
        </p:nvSpPr>
        <p:spPr>
          <a:xfrm>
            <a:off x="5038344" y="2788920"/>
            <a:ext cx="2011680" cy="3657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no id, wrong method</a:t>
            </a:r>
            <a:endParaRPr lang="en-US" sz="1300" dirty="0"/>
          </a:p>
        </p:txBody>
      </p:sp>
      <p:sp>
        <p:nvSpPr>
          <p:cNvPr id="14" name="Text 12"/>
          <p:cNvSpPr txBox="1"/>
          <p:nvPr/>
        </p:nvSpPr>
        <p:spPr>
          <a:xfrm>
            <a:off x="7214616" y="1600200"/>
            <a:ext cx="2011680" cy="822960"/>
          </a:xfrm>
          <a:prstGeom prst="rect">
            <a:avLst/>
          </a:prstGeom>
          <a:noFill/>
          <a:ln/>
        </p:spPr>
        <p:txBody>
          <a:bodyPr wrap="square" lIns="0" tIns="0" rIns="0" bIns="0" rtlCol="0" anchor="ctr"/>
          <a:lstStyle/>
          <a:p>
            <a:pPr indent="0" marL="0">
              <a:buNone/>
            </a:pPr>
            <a:r>
              <a:rPr lang="en-US" sz="4600" b="1" dirty="0">
                <a:solidFill>
                  <a:srgbClr val="C0392B"/>
                </a:solidFill>
                <a:latin typeface="Georgia" pitchFamily="34" charset="0"/>
                <a:ea typeface="Georgia" pitchFamily="34" charset="-122"/>
                <a:cs typeface="Georgia" pitchFamily="34" charset="-120"/>
              </a:rPr>
              <a:t>415</a:t>
            </a:r>
            <a:endParaRPr lang="en-US" sz="4600" dirty="0"/>
          </a:p>
        </p:txBody>
      </p:sp>
      <p:sp>
        <p:nvSpPr>
          <p:cNvPr id="15" name="Text 13"/>
          <p:cNvSpPr txBox="1"/>
          <p:nvPr/>
        </p:nvSpPr>
        <p:spPr>
          <a:xfrm>
            <a:off x="7214616" y="2468880"/>
            <a:ext cx="2011680" cy="320040"/>
          </a:xfrm>
          <a:prstGeom prst="rect">
            <a:avLst/>
          </a:prstGeom>
          <a:noFill/>
          <a:ln/>
        </p:spPr>
        <p:txBody>
          <a:bodyPr wrap="square" lIns="0" tIns="0" rIns="0" bIns="0" rtlCol="0" anchor="ctr"/>
          <a:lstStyle/>
          <a:p>
            <a:pPr indent="0" marL="0">
              <a:buNone/>
            </a:pPr>
            <a:r>
              <a:rPr lang="en-US" sz="1150" dirty="0">
                <a:solidFill>
                  <a:srgbClr val="14213D"/>
                </a:solidFill>
                <a:latin typeface="Consolas" pitchFamily="34" charset="0"/>
                <a:ea typeface="Consolas" pitchFamily="34" charset="-122"/>
                <a:cs typeface="Consolas" pitchFamily="34" charset="-120"/>
              </a:rPr>
              <a:t>POST text/plain</a:t>
            </a:r>
            <a:endParaRPr lang="en-US" sz="1150" dirty="0"/>
          </a:p>
        </p:txBody>
      </p:sp>
      <p:sp>
        <p:nvSpPr>
          <p:cNvPr id="16" name="Text 14"/>
          <p:cNvSpPr txBox="1"/>
          <p:nvPr/>
        </p:nvSpPr>
        <p:spPr>
          <a:xfrm>
            <a:off x="7214616" y="2788920"/>
            <a:ext cx="2011680" cy="3657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cannot read the body</a:t>
            </a:r>
            <a:endParaRPr lang="en-US" sz="1300" dirty="0"/>
          </a:p>
        </p:txBody>
      </p:sp>
      <p:sp>
        <p:nvSpPr>
          <p:cNvPr id="17" name="Text 15"/>
          <p:cNvSpPr txBox="1"/>
          <p:nvPr/>
        </p:nvSpPr>
        <p:spPr>
          <a:xfrm>
            <a:off x="9390888" y="1600200"/>
            <a:ext cx="2011680" cy="822960"/>
          </a:xfrm>
          <a:prstGeom prst="rect">
            <a:avLst/>
          </a:prstGeom>
          <a:noFill/>
          <a:ln/>
        </p:spPr>
        <p:txBody>
          <a:bodyPr wrap="square" lIns="0" tIns="0" rIns="0" bIns="0" rtlCol="0" anchor="ctr"/>
          <a:lstStyle/>
          <a:p>
            <a:pPr indent="0" marL="0">
              <a:buNone/>
            </a:pPr>
            <a:r>
              <a:rPr lang="en-US" sz="4600" b="1" dirty="0">
                <a:solidFill>
                  <a:srgbClr val="C0392B"/>
                </a:solidFill>
                <a:latin typeface="Georgia" pitchFamily="34" charset="0"/>
                <a:ea typeface="Georgia" pitchFamily="34" charset="-122"/>
                <a:cs typeface="Georgia" pitchFamily="34" charset="-120"/>
              </a:rPr>
              <a:t>406</a:t>
            </a:r>
            <a:endParaRPr lang="en-US" sz="4600" dirty="0"/>
          </a:p>
        </p:txBody>
      </p:sp>
      <p:sp>
        <p:nvSpPr>
          <p:cNvPr id="18" name="Text 16"/>
          <p:cNvSpPr txBox="1"/>
          <p:nvPr/>
        </p:nvSpPr>
        <p:spPr>
          <a:xfrm>
            <a:off x="9390888" y="2468880"/>
            <a:ext cx="2011680" cy="320040"/>
          </a:xfrm>
          <a:prstGeom prst="rect">
            <a:avLst/>
          </a:prstGeom>
          <a:noFill/>
          <a:ln/>
        </p:spPr>
        <p:txBody>
          <a:bodyPr wrap="square" lIns="0" tIns="0" rIns="0" bIns="0" rtlCol="0" anchor="ctr"/>
          <a:lstStyle/>
          <a:p>
            <a:pPr indent="0" marL="0">
              <a:buNone/>
            </a:pPr>
            <a:r>
              <a:rPr lang="en-US" sz="1150" dirty="0">
                <a:solidFill>
                  <a:srgbClr val="14213D"/>
                </a:solidFill>
                <a:latin typeface="Consolas" pitchFamily="34" charset="0"/>
                <a:ea typeface="Consolas" pitchFamily="34" charset="-122"/>
                <a:cs typeface="Consolas" pitchFamily="34" charset="-120"/>
              </a:rPr>
              <a:t>Accept: xml</a:t>
            </a:r>
            <a:endParaRPr lang="en-US" sz="1150" dirty="0"/>
          </a:p>
        </p:txBody>
      </p:sp>
      <p:sp>
        <p:nvSpPr>
          <p:cNvPr id="19" name="Text 17"/>
          <p:cNvSpPr txBox="1"/>
          <p:nvPr/>
        </p:nvSpPr>
        <p:spPr>
          <a:xfrm>
            <a:off x="9390888" y="2788920"/>
            <a:ext cx="2011680" cy="36576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cannot write xml</a:t>
            </a:r>
            <a:endParaRPr lang="en-US" sz="1300" dirty="0"/>
          </a:p>
        </p:txBody>
      </p:sp>
      <p:sp>
        <p:nvSpPr>
          <p:cNvPr id="20" name="Shape 18"/>
          <p:cNvSpPr/>
          <p:nvPr/>
        </p:nvSpPr>
        <p:spPr>
          <a:xfrm>
            <a:off x="685800" y="3383280"/>
            <a:ext cx="10789920" cy="0"/>
          </a:xfrm>
          <a:prstGeom prst="line">
            <a:avLst/>
          </a:prstGeom>
          <a:noFill/>
          <a:ln w="9525">
            <a:solidFill>
              <a:srgbClr val="D9DEE6"/>
            </a:solidFill>
            <a:prstDash val="solid"/>
          </a:ln>
        </p:spPr>
      </p:sp>
      <p:pic>
        <p:nvPicPr>
          <p:cNvPr id="21" name="Image 0" descr="/home/claude/deck/img/v3.png">    </p:cNvPr>
          <p:cNvPicPr>
            <a:picLocks noChangeAspect="1"/>
          </p:cNvPicPr>
          <p:nvPr/>
        </p:nvPicPr>
        <p:blipFill>
          <a:blip r:embed="rId1"/>
          <a:stretch>
            <a:fillRect/>
          </a:stretch>
        </p:blipFill>
        <p:spPr>
          <a:xfrm rot="-90000">
            <a:off x="777240" y="3657600"/>
            <a:ext cx="4572000" cy="2423160"/>
          </a:xfrm>
          <a:prstGeom prst="rect">
            <a:avLst/>
          </a:prstGeom>
          <a:effectLst>
            <a:outerShdw sx="100000" sy="100000" kx="0" ky="0" algn="bl" rotWithShape="0" blurRad="127000" dist="50800" dir="5400000">
              <a:srgbClr val="14213D">
                <a:alpha val="22000"/>
              </a:srgbClr>
            </a:outerShdw>
          </a:effectLst>
        </p:spPr>
      </p:pic>
      <p:sp>
        <p:nvSpPr>
          <p:cNvPr id="22" name="Text 19"/>
          <p:cNvSpPr txBox="1"/>
          <p:nvPr/>
        </p:nvSpPr>
        <p:spPr>
          <a:xfrm>
            <a:off x="5852160" y="3703320"/>
            <a:ext cx="5623560" cy="2377440"/>
          </a:xfrm>
          <a:prstGeom prst="rect">
            <a:avLst/>
          </a:prstGeom>
          <a:noFill/>
          <a:ln/>
        </p:spPr>
        <p:txBody>
          <a:bodyPr wrap="square" lIns="0" tIns="0" rIns="0" bIns="0" rtlCol="0" anchor="t"/>
          <a:lstStyle/>
          <a:p>
            <a:pPr indent="0" marL="0">
              <a:lnSpc>
                <a:spcPct val="108000"/>
              </a:lnSpc>
              <a:spcAft>
                <a:spcPts val="800"/>
              </a:spcAft>
              <a:buNone/>
            </a:pPr>
            <a:r>
              <a:rPr lang="en-US" sz="1500" b="1" dirty="0">
                <a:solidFill>
                  <a:srgbClr val="14213D"/>
                </a:solidFill>
                <a:latin typeface="Calibri" pitchFamily="34" charset="0"/>
                <a:ea typeface="Calibri" pitchFamily="34" charset="-122"/>
                <a:cs typeface="Calibri" pitchFamily="34" charset="-120"/>
              </a:rPr>
              <a:t>The page side. </a:t>
            </a:r>
            <a:pPr indent="0" marL="0">
              <a:lnSpc>
                <a:spcPct val="108000"/>
              </a:lnSpc>
              <a:spcAft>
                <a:spcPts val="800"/>
              </a:spcAft>
              <a:buNone/>
            </a:pPr>
            <a:r>
              <a:rPr lang="en-US" sz="1500" dirty="0">
                <a:solidFill>
                  <a:srgbClr val="14213D"/>
                </a:solidFill>
                <a:latin typeface="Calibri" pitchFamily="34" charset="0"/>
                <a:ea typeface="Calibri" pitchFamily="34" charset="-122"/>
                <a:cs typeface="Calibri" pitchFamily="34" charset="-120"/>
              </a:rPr>
              <a:t>@Controller fills the model, Thymeleaf renders /books. app.css comes straight from static/, no controller. After a form POST we redirect, so F5 does not add the book twice.</a:t>
            </a:r>
            <a:endParaRPr lang="en-US" sz="1500" dirty="0"/>
          </a:p>
          <a:p>
            <a:pPr indent="0" marL="0">
              <a:lnSpc>
                <a:spcPct val="108000"/>
              </a:lnSpc>
              <a:spcAft>
                <a:spcPts val="800"/>
              </a:spcAft>
              <a:buNone/>
            </a:pPr>
            <a:r>
              <a:rPr lang="en-US" sz="1300" dirty="0">
                <a:solidFill>
                  <a:srgbClr val="4A5568"/>
                </a:solidFill>
                <a:latin typeface="Calibri" pitchFamily="34" charset="0"/>
                <a:ea typeface="Calibri" pitchFamily="34" charset="-122"/>
                <a:cs typeface="Calibri" pitchFamily="34" charset="-120"/>
              </a:rPr>
              <a:t>Variant: GET /api/books/search?title=java found 3 books; no match is 200 with [].</a:t>
            </a:r>
            <a:endParaRPr lang="en-US" sz="1500" dirty="0"/>
          </a:p>
        </p:txBody>
      </p:sp>
      <p:sp>
        <p:nvSpPr>
          <p:cNvPr id="25" name="Slide Number Placeholder 0"/>
          <p:cNvSpPr>
            <a:spLocks noGrp="1"/>
          </p:cNvSpPr>
          <p:nvPr>
            <p:ph type="sldNum" sz="quarter" idx="4294967295"/>
          </p:nvPr>
        </p:nvSpPr>
        <p:spPr>
          <a:xfrm>
            <a:off x="1106424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85800" y="274320"/>
            <a:ext cx="685800" cy="237744"/>
          </a:xfrm>
          <a:prstGeom prst="rect">
            <a:avLst/>
          </a:prstGeom>
          <a:solidFill>
            <a:srgbClr val="FFD54A"/>
          </a:solidFill>
          <a:ln w="12700">
            <a:solidFill>
              <a:srgbClr val="FFD54A"/>
            </a:solidFill>
            <a:prstDash val="solid"/>
          </a:ln>
        </p:spPr>
      </p:sp>
      <p:sp>
        <p:nvSpPr>
          <p:cNvPr id="3" name="Text 1"/>
          <p:cNvSpPr txBox="1"/>
          <p:nvPr/>
        </p:nvSpPr>
        <p:spPr>
          <a:xfrm>
            <a:off x="685800" y="274320"/>
            <a:ext cx="685800" cy="237744"/>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Lab 6</a:t>
            </a:r>
            <a:endParaRPr lang="en-US" sz="1100" dirty="0"/>
          </a:p>
        </p:txBody>
      </p:sp>
      <p:sp>
        <p:nvSpPr>
          <p:cNvPr id="4" name="Text 0"/>
          <p:cNvSpPr/>
          <p:nvPr>
            <p:ph idx="100" type="title" hasCustomPrompt="1"/>
          </p:nvPr>
        </p:nvSpPr>
        <p:spPr>
          <a:xfrm>
            <a:off x="685800" y="566928"/>
            <a:ext cx="10789920" cy="822960"/>
          </a:xfrm>
          <a:prstGeom prst="rect">
            <a:avLst/>
          </a:prstGeom>
          <a:noFill/>
          <a:ln/>
        </p:spPr>
        <p:txBody>
          <a:bodyPr wrap="square" lIns="0" tIns="0" rIns="0" bIns="0" rtlCol="0" anchor="t"/>
          <a:lstStyle/>
          <a:p>
            <a:pPr algn="l" indent="0" marL="0">
              <a:buNone/>
            </a:pPr>
            <a:r>
              <a:rPr lang="en-US" sz="3200" b="1" dirty="0">
                <a:solidFill>
                  <a:srgbClr val="14213D"/>
                </a:solidFill>
                <a:latin typeface="Georgia" pitchFamily="34" charset="0"/>
                <a:ea typeface="Georgia" pitchFamily="34" charset="-122"/>
                <a:cs typeface="Georgia" pitchFamily="34" charset="-120"/>
              </a:rPr>
              <a:t>A form that keeps what you typed</a:t>
            </a:r>
            <a:endParaRPr lang="en-US" sz="3200" dirty="0"/>
          </a:p>
        </p:txBody>
      </p:sp>
      <p:pic>
        <p:nvPicPr>
          <p:cNvPr id="5" name="Image 0" descr="/home/claude/deck/img/v4.png">    </p:cNvPr>
          <p:cNvPicPr>
            <a:picLocks noChangeAspect="1"/>
          </p:cNvPicPr>
          <p:nvPr/>
        </p:nvPicPr>
        <p:blipFill>
          <a:blip r:embed="rId1"/>
          <a:stretch>
            <a:fillRect/>
          </a:stretch>
        </p:blipFill>
        <p:spPr>
          <a:xfrm rot="-90000">
            <a:off x="822960" y="1600200"/>
            <a:ext cx="5120640" cy="3383280"/>
          </a:xfrm>
          <a:prstGeom prst="rect">
            <a:avLst/>
          </a:prstGeom>
          <a:effectLst>
            <a:outerShdw sx="100000" sy="100000" kx="0" ky="0" algn="bl" rotWithShape="0" blurRad="127000" dist="50800" dir="5400000">
              <a:srgbClr val="14213D">
                <a:alpha val="22000"/>
              </a:srgbClr>
            </a:outerShdw>
          </a:effectLst>
        </p:spPr>
      </p:pic>
      <p:pic>
        <p:nvPicPr>
          <p:cNvPr id="6" name="Image 1" descr="/home/claude/deck/img/v5.png">    </p:cNvPr>
          <p:cNvPicPr>
            <a:picLocks noChangeAspect="1"/>
          </p:cNvPicPr>
          <p:nvPr/>
        </p:nvPicPr>
        <p:blipFill>
          <a:blip r:embed="rId2"/>
          <a:stretch>
            <a:fillRect/>
          </a:stretch>
        </p:blipFill>
        <p:spPr>
          <a:xfrm rot="90000">
            <a:off x="6263640" y="1645920"/>
            <a:ext cx="5120640" cy="3383280"/>
          </a:xfrm>
          <a:prstGeom prst="rect">
            <a:avLst/>
          </a:prstGeom>
          <a:effectLst>
            <a:outerShdw sx="100000" sy="100000" kx="0" ky="0" algn="bl" rotWithShape="0" blurRad="127000" dist="50800" dir="5400000">
              <a:srgbClr val="14213D">
                <a:alpha val="22000"/>
              </a:srgbClr>
            </a:outerShdw>
          </a:effectLst>
        </p:spPr>
      </p:pic>
      <p:sp>
        <p:nvSpPr>
          <p:cNvPr id="7" name="Text 3"/>
          <p:cNvSpPr txBox="1"/>
          <p:nvPr/>
        </p:nvSpPr>
        <p:spPr>
          <a:xfrm>
            <a:off x="822960" y="5257800"/>
            <a:ext cx="5120640" cy="365760"/>
          </a:xfrm>
          <a:prstGeom prst="rect">
            <a:avLst/>
          </a:prstGeom>
          <a:noFill/>
          <a:ln/>
        </p:spPr>
        <p:txBody>
          <a:bodyPr wrap="square" lIns="0" tIns="0" rIns="0" bIns="0" rtlCol="0" anchor="t"/>
          <a:lstStyle/>
          <a:p>
            <a:pPr indent="0" marL="0">
              <a:lnSpc>
                <a:spcPct val="108000"/>
              </a:lnSpc>
              <a:spcAft>
                <a:spcPts val="800"/>
              </a:spcAft>
              <a:buNone/>
            </a:pPr>
            <a:r>
              <a:rPr lang="en-US" sz="1300" dirty="0">
                <a:solidFill>
                  <a:srgbClr val="4A5568"/>
                </a:solidFill>
                <a:latin typeface="Calibri" pitchFamily="34" charset="0"/>
                <a:ea typeface="Calibri" pitchFamily="34" charset="-122"/>
                <a:cs typeface="Calibri" pitchFamily="34" charset="-120"/>
              </a:rPr>
              <a:t>Digits in the author and a bad ISBN check digit (our variant).</a:t>
            </a:r>
            <a:endParaRPr lang="en-US" sz="1300" dirty="0"/>
          </a:p>
        </p:txBody>
      </p:sp>
      <p:sp>
        <p:nvSpPr>
          <p:cNvPr id="8" name="Text 4"/>
          <p:cNvSpPr txBox="1"/>
          <p:nvPr/>
        </p:nvSpPr>
        <p:spPr>
          <a:xfrm>
            <a:off x="6263640" y="5257800"/>
            <a:ext cx="5120640" cy="365760"/>
          </a:xfrm>
          <a:prstGeom prst="rect">
            <a:avLst/>
          </a:prstGeom>
          <a:noFill/>
          <a:ln/>
        </p:spPr>
        <p:txBody>
          <a:bodyPr wrap="square" lIns="0" tIns="0" rIns="0" bIns="0" rtlCol="0" anchor="t"/>
          <a:lstStyle/>
          <a:p>
            <a:pPr indent="0" marL="0">
              <a:lnSpc>
                <a:spcPct val="108000"/>
              </a:lnSpc>
              <a:spcAft>
                <a:spcPts val="800"/>
              </a:spcAft>
              <a:buNone/>
            </a:pPr>
            <a:r>
              <a:rPr lang="en-US" sz="1300" dirty="0">
                <a:solidFill>
                  <a:srgbClr val="4A5568"/>
                </a:solidFill>
                <a:latin typeface="Calibri" pitchFamily="34" charset="0"/>
                <a:ea typeface="Calibri" pitchFamily="34" charset="-122"/>
                <a:cs typeface="Calibri" pitchFamily="34" charset="-120"/>
              </a:rPr>
              <a:t>?lang=ru: labels and error messages switch together.</a:t>
            </a:r>
            <a:endParaRPr lang="en-US" sz="1300" dirty="0"/>
          </a:p>
        </p:txBody>
      </p:sp>
      <p:sp>
        <p:nvSpPr>
          <p:cNvPr id="9" name="Shape 5"/>
          <p:cNvSpPr/>
          <p:nvPr/>
        </p:nvSpPr>
        <p:spPr>
          <a:xfrm>
            <a:off x="777240" y="5760720"/>
            <a:ext cx="10744200" cy="384048"/>
          </a:xfrm>
          <a:prstGeom prst="rect">
            <a:avLst/>
          </a:prstGeom>
          <a:solidFill>
            <a:srgbClr val="FFD54A">
              <a:alpha val="75000"/>
            </a:srgbClr>
          </a:solidFill>
          <a:ln w="12700">
            <a:solidFill>
              <a:srgbClr val="FFD54A">
                <a:alpha val="0"/>
              </a:srgbClr>
            </a:solidFill>
            <a:prstDash val="solid"/>
          </a:ln>
        </p:spPr>
      </p:sp>
      <p:sp>
        <p:nvSpPr>
          <p:cNvPr id="10" name="Text 6"/>
          <p:cNvSpPr txBox="1"/>
          <p:nvPr/>
        </p:nvSpPr>
        <p:spPr>
          <a:xfrm>
            <a:off x="868680" y="5788152"/>
            <a:ext cx="10607040" cy="365760"/>
          </a:xfrm>
          <a:prstGeom prst="rect">
            <a:avLst/>
          </a:prstGeom>
          <a:noFill/>
          <a:ln/>
        </p:spPr>
        <p:txBody>
          <a:bodyPr wrap="square" lIns="0" tIns="0" rIns="0" bIns="0" rtlCol="0" anchor="t"/>
          <a:lstStyle/>
          <a:p>
            <a:pPr indent="0" marL="0">
              <a:lnSpc>
                <a:spcPct val="108000"/>
              </a:lnSpc>
              <a:spcAft>
                <a:spcPts val="800"/>
              </a:spcAft>
              <a:buNone/>
            </a:pPr>
            <a:r>
              <a:rPr lang="en-US" sz="1350" dirty="0">
                <a:solidFill>
                  <a:srgbClr val="14213D"/>
                </a:solidFill>
                <a:latin typeface="Calibri" pitchFamily="34" charset="0"/>
                <a:ea typeface="Calibri" pitchFamily="34" charset="-122"/>
                <a:cs typeface="Calibri" pitchFamily="34" charset="-120"/>
              </a:rPr>
              <a:t>Windows here runs in Russian, and Spring showed Russian even on the English page. fallback-to-system-locale: false fixed it.</a:t>
            </a:r>
            <a:endParaRPr lang="en-US" sz="1350" dirty="0"/>
          </a:p>
        </p:txBody>
      </p:sp>
      <p:sp>
        <p:nvSpPr>
          <p:cNvPr id="25" name="Slide Number Placeholder 0"/>
          <p:cNvSpPr>
            <a:spLocks noGrp="1"/>
          </p:cNvSpPr>
          <p:nvPr>
            <p:ph type="sldNum" sz="quarter" idx="4294967295"/>
          </p:nvPr>
        </p:nvSpPr>
        <p:spPr>
          <a:xfrm>
            <a:off x="1106424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85800" y="274320"/>
            <a:ext cx="685800" cy="237744"/>
          </a:xfrm>
          <a:prstGeom prst="rect">
            <a:avLst/>
          </a:prstGeom>
          <a:solidFill>
            <a:srgbClr val="FFD54A"/>
          </a:solidFill>
          <a:ln w="12700">
            <a:solidFill>
              <a:srgbClr val="FFD54A"/>
            </a:solidFill>
            <a:prstDash val="solid"/>
          </a:ln>
        </p:spPr>
      </p:sp>
      <p:sp>
        <p:nvSpPr>
          <p:cNvPr id="3" name="Text 1"/>
          <p:cNvSpPr txBox="1"/>
          <p:nvPr/>
        </p:nvSpPr>
        <p:spPr>
          <a:xfrm>
            <a:off x="685800" y="274320"/>
            <a:ext cx="685800" cy="237744"/>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Lab 7</a:t>
            </a:r>
            <a:endParaRPr lang="en-US" sz="1100" dirty="0"/>
          </a:p>
        </p:txBody>
      </p:sp>
      <p:sp>
        <p:nvSpPr>
          <p:cNvPr id="4" name="Text 0"/>
          <p:cNvSpPr/>
          <p:nvPr>
            <p:ph idx="100" type="title" hasCustomPrompt="1"/>
          </p:nvPr>
        </p:nvSpPr>
        <p:spPr>
          <a:xfrm>
            <a:off x="685800" y="566928"/>
            <a:ext cx="10789920" cy="822960"/>
          </a:xfrm>
          <a:prstGeom prst="rect">
            <a:avLst/>
          </a:prstGeom>
          <a:noFill/>
          <a:ln/>
        </p:spPr>
        <p:txBody>
          <a:bodyPr wrap="square" lIns="0" tIns="0" rIns="0" bIns="0" rtlCol="0" anchor="t"/>
          <a:lstStyle/>
          <a:p>
            <a:pPr algn="l" indent="0" marL="0">
              <a:buNone/>
            </a:pPr>
            <a:r>
              <a:rPr lang="en-US" sz="3200" b="1" dirty="0">
                <a:solidFill>
                  <a:srgbClr val="14213D"/>
                </a:solidFill>
                <a:latin typeface="Georgia" pitchFamily="34" charset="0"/>
                <a:ea typeface="Georgia" pitchFamily="34" charset="-122"/>
                <a:cs typeface="Georgia" pitchFamily="34" charset="-120"/>
              </a:rPr>
              <a:t>An API another team could use</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4480560" cy="914400"/>
        </p:xfrm>
        <a:graphic>
          <a:graphicData uri="http://schemas.openxmlformats.org/drawingml/2006/table">
            <a:tbl>
              <a:tblPr/>
              <a:tblGrid>
                <a:gridCol w="3474720"/>
                <a:gridCol w="1005840"/>
              </a:tblGrid>
              <a:tr h="457200">
                <a:tc>
                  <a:txBody>
                    <a:bodyPr/>
                    <a:lstStyle/>
                    <a:p>
                      <a:pPr indent="0" marL="0">
                        <a:buNone/>
                      </a:pPr>
                      <a:r>
                        <a:rPr lang="en-US" sz="1450" b="1" dirty="0">
                          <a:solidFill>
                            <a:srgbClr val="14213D"/>
                          </a:solidFill>
                          <a:latin typeface="Calibri" pitchFamily="34" charset="0"/>
                          <a:ea typeface="Calibri" pitchFamily="34" charset="-122"/>
                          <a:cs typeface="Calibri" pitchFamily="34" charset="-120"/>
                        </a:rPr>
                        <a:t>Request</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4213D"/>
                      </a:solidFill>
                      <a:prstDash val="solid"/>
                      <a:round/>
                      <a:headEnd type="none" w="med" len="med"/>
                      <a:tailEnd type="none" w="med" len="med"/>
                    </a:lnB>
                  </a:tcPr>
                </a:tc>
                <a:tc>
                  <a:txBody>
                    <a:bodyPr/>
                    <a:lstStyle/>
                    <a:p>
                      <a:pPr indent="0" marL="0">
                        <a:buNone/>
                      </a:pPr>
                      <a:r>
                        <a:rPr lang="en-US" sz="1450" b="1" dirty="0">
                          <a:solidFill>
                            <a:srgbClr val="14213D"/>
                          </a:solidFill>
                          <a:latin typeface="Calibri" pitchFamily="34" charset="0"/>
                          <a:ea typeface="Calibri" pitchFamily="34" charset="-122"/>
                          <a:cs typeface="Calibri" pitchFamily="34" charset="-120"/>
                        </a:rPr>
                        <a:t>Code</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4213D"/>
                      </a:solidFill>
                      <a:prstDash val="solid"/>
                      <a:round/>
                      <a:headEnd type="none" w="med" len="med"/>
                      <a:tailEnd type="none" w="med" len="med"/>
                    </a:lnB>
                  </a:tcPr>
                </a:tc>
              </a:tr>
              <a:tr h="457200">
                <a:tc>
                  <a:txBody>
                    <a:bodyPr/>
                    <a:lstStyle/>
                    <a:p>
                      <a:pPr indent="0" marL="0">
                        <a:buNone/>
                      </a:pPr>
                      <a:r>
                        <a:rPr lang="en-US" sz="1450" dirty="0">
                          <a:solidFill>
                            <a:srgbClr val="14213D"/>
                          </a:solidFill>
                          <a:latin typeface="Calibri" pitchFamily="34" charset="0"/>
                          <a:ea typeface="Calibri" pitchFamily="34" charset="-122"/>
                          <a:cs typeface="Calibri" pitchFamily="34" charset="-120"/>
                        </a:rPr>
                        <a:t>GET /api/books/1</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450" b="1" dirty="0">
                          <a:solidFill>
                            <a:srgbClr val="1E7D4F"/>
                          </a:solidFill>
                          <a:latin typeface="Calibri" pitchFamily="34" charset="0"/>
                          <a:ea typeface="Calibri" pitchFamily="34" charset="-122"/>
                          <a:cs typeface="Calibri" pitchFamily="34" charset="-120"/>
                        </a:rPr>
                        <a:t>200</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r h="457200">
                <a:tc>
                  <a:txBody>
                    <a:bodyPr/>
                    <a:lstStyle/>
                    <a:p>
                      <a:pPr indent="0" marL="0">
                        <a:buNone/>
                      </a:pPr>
                      <a:r>
                        <a:rPr lang="en-US" sz="1450" dirty="0">
                          <a:solidFill>
                            <a:srgbClr val="14213D"/>
                          </a:solidFill>
                          <a:latin typeface="Calibri" pitchFamily="34" charset="0"/>
                          <a:ea typeface="Calibri" pitchFamily="34" charset="-122"/>
                          <a:cs typeface="Calibri" pitchFamily="34" charset="-120"/>
                        </a:rPr>
                        <a:t>POST /api/books</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450" b="1" dirty="0">
                          <a:solidFill>
                            <a:srgbClr val="1E7D4F"/>
                          </a:solidFill>
                          <a:latin typeface="Calibri" pitchFamily="34" charset="0"/>
                          <a:ea typeface="Calibri" pitchFamily="34" charset="-122"/>
                          <a:cs typeface="Calibri" pitchFamily="34" charset="-120"/>
                        </a:rPr>
                        <a:t>201</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r h="457200">
                <a:tc>
                  <a:txBody>
                    <a:bodyPr/>
                    <a:lstStyle/>
                    <a:p>
                      <a:pPr indent="0" marL="0">
                        <a:buNone/>
                      </a:pPr>
                      <a:r>
                        <a:rPr lang="en-US" sz="1450" dirty="0">
                          <a:solidFill>
                            <a:srgbClr val="14213D"/>
                          </a:solidFill>
                          <a:latin typeface="Calibri" pitchFamily="34" charset="0"/>
                          <a:ea typeface="Calibri" pitchFamily="34" charset="-122"/>
                          <a:cs typeface="Calibri" pitchFamily="34" charset="-120"/>
                        </a:rPr>
                        <a:t>DELETE /api/books/1</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450" b="1" dirty="0">
                          <a:solidFill>
                            <a:srgbClr val="1E7D4F"/>
                          </a:solidFill>
                          <a:latin typeface="Calibri" pitchFamily="34" charset="0"/>
                          <a:ea typeface="Calibri" pitchFamily="34" charset="-122"/>
                          <a:cs typeface="Calibri" pitchFamily="34" charset="-120"/>
                        </a:rPr>
                        <a:t>204</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r h="457200">
                <a:tc>
                  <a:txBody>
                    <a:bodyPr/>
                    <a:lstStyle/>
                    <a:p>
                      <a:pPr indent="0" marL="0">
                        <a:buNone/>
                      </a:pPr>
                      <a:r>
                        <a:rPr lang="en-US" sz="1450" dirty="0">
                          <a:solidFill>
                            <a:srgbClr val="14213D"/>
                          </a:solidFill>
                          <a:latin typeface="Calibri" pitchFamily="34" charset="0"/>
                          <a:ea typeface="Calibri" pitchFamily="34" charset="-122"/>
                          <a:cs typeface="Calibri" pitchFamily="34" charset="-120"/>
                        </a:rPr>
                        <a:t>the same DELETE again</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450" b="1" dirty="0">
                          <a:solidFill>
                            <a:srgbClr val="C0392B"/>
                          </a:solidFill>
                          <a:latin typeface="Calibri" pitchFamily="34" charset="0"/>
                          <a:ea typeface="Calibri" pitchFamily="34" charset="-122"/>
                          <a:cs typeface="Calibri" pitchFamily="34" charset="-120"/>
                        </a:rPr>
                        <a:t>404</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r h="457200">
                <a:tc>
                  <a:txBody>
                    <a:bodyPr/>
                    <a:lstStyle/>
                    <a:p>
                      <a:pPr indent="0" marL="0">
                        <a:buNone/>
                      </a:pPr>
                      <a:r>
                        <a:rPr lang="en-US" sz="1450" dirty="0">
                          <a:solidFill>
                            <a:srgbClr val="14213D"/>
                          </a:solidFill>
                          <a:latin typeface="Calibri" pitchFamily="34" charset="0"/>
                          <a:ea typeface="Calibri" pitchFamily="34" charset="-122"/>
                          <a:cs typeface="Calibri" pitchFamily="34" charset="-120"/>
                        </a:rPr>
                        <a:t>POST with empty title</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450" b="1" dirty="0">
                          <a:solidFill>
                            <a:srgbClr val="C0392B"/>
                          </a:solidFill>
                          <a:latin typeface="Calibri" pitchFamily="34" charset="0"/>
                          <a:ea typeface="Calibri" pitchFamily="34" charset="-122"/>
                          <a:cs typeface="Calibri" pitchFamily="34" charset="-120"/>
                        </a:rPr>
                        <a:t>400</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r h="457200">
                <a:tc>
                  <a:txBody>
                    <a:bodyPr/>
                    <a:lstStyle/>
                    <a:p>
                      <a:pPr indent="0" marL="0">
                        <a:buNone/>
                      </a:pPr>
                      <a:r>
                        <a:rPr lang="en-US" sz="1450" dirty="0">
                          <a:solidFill>
                            <a:srgbClr val="14213D"/>
                          </a:solidFill>
                          <a:latin typeface="Calibri" pitchFamily="34" charset="0"/>
                          <a:ea typeface="Calibri" pitchFamily="34" charset="-122"/>
                          <a:cs typeface="Calibri" pitchFamily="34" charset="-120"/>
                        </a:rPr>
                        <a:t>POST a book that exists</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450" b="1" dirty="0">
                          <a:solidFill>
                            <a:srgbClr val="C0392B"/>
                          </a:solidFill>
                          <a:latin typeface="Calibri" pitchFamily="34" charset="0"/>
                          <a:ea typeface="Calibri" pitchFamily="34" charset="-122"/>
                          <a:cs typeface="Calibri" pitchFamily="34" charset="-120"/>
                        </a:rPr>
                        <a:t>409</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r h="457200">
                <a:tc>
                  <a:txBody>
                    <a:bodyPr/>
                    <a:lstStyle/>
                    <a:p>
                      <a:pPr indent="0" marL="0">
                        <a:buNone/>
                      </a:pPr>
                      <a:r>
                        <a:rPr lang="en-US" sz="1450" dirty="0">
                          <a:solidFill>
                            <a:srgbClr val="14213D"/>
                          </a:solidFill>
                          <a:latin typeface="Calibri" pitchFamily="34" charset="0"/>
                          <a:ea typeface="Calibri" pitchFamily="34" charset="-122"/>
                          <a:cs typeface="Calibri" pitchFamily="34" charset="-120"/>
                        </a:rPr>
                        <a:t>?page=0&amp;size=5</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450" b="1" dirty="0">
                          <a:solidFill>
                            <a:srgbClr val="1E7D4F"/>
                          </a:solidFill>
                          <a:latin typeface="Calibri" pitchFamily="34" charset="0"/>
                          <a:ea typeface="Calibri" pitchFamily="34" charset="-122"/>
                          <a:cs typeface="Calibri" pitchFamily="34" charset="-120"/>
                        </a:rPr>
                        <a:t>200</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r h="457200">
                <a:tc>
                  <a:txBody>
                    <a:bodyPr/>
                    <a:lstStyle/>
                    <a:p>
                      <a:pPr indent="0" marL="0">
                        <a:buNone/>
                      </a:pPr>
                      <a:r>
                        <a:rPr lang="en-US" sz="1450" dirty="0">
                          <a:solidFill>
                            <a:srgbClr val="14213D"/>
                          </a:solidFill>
                          <a:latin typeface="Calibri" pitchFamily="34" charset="0"/>
                          <a:ea typeface="Calibri" pitchFamily="34" charset="-122"/>
                          <a:cs typeface="Calibri" pitchFamily="34" charset="-120"/>
                        </a:rPr>
                        <a:t>?page=-1</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c>
                  <a:txBody>
                    <a:bodyPr/>
                    <a:lstStyle/>
                    <a:p>
                      <a:pPr indent="0" marL="0">
                        <a:buNone/>
                      </a:pPr>
                      <a:r>
                        <a:rPr lang="en-US" sz="1450" b="1" dirty="0">
                          <a:solidFill>
                            <a:srgbClr val="C0392B"/>
                          </a:solidFill>
                          <a:latin typeface="Calibri" pitchFamily="34" charset="0"/>
                          <a:ea typeface="Calibri" pitchFamily="34" charset="-122"/>
                          <a:cs typeface="Calibri" pitchFamily="34" charset="-120"/>
                        </a:rPr>
                        <a:t>400</a:t>
                      </a:r>
                      <a:endParaRPr lang="en-US" sz="14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DEE6"/>
                      </a:solidFill>
                      <a:prstDash val="solid"/>
                      <a:round/>
                      <a:headEnd type="none" w="med" len="med"/>
                      <a:tailEnd type="none" w="med" len="med"/>
                    </a:lnB>
                  </a:tcPr>
                </a:tc>
              </a:tr>
            </a:tbl>
          </a:graphicData>
        </a:graphic>
      </p:graphicFrame>
      <p:sp>
        <p:nvSpPr>
          <p:cNvPr id="6" name="Shape 3"/>
          <p:cNvSpPr/>
          <p:nvPr/>
        </p:nvSpPr>
        <p:spPr>
          <a:xfrm>
            <a:off x="5669280" y="1554480"/>
            <a:ext cx="5806440" cy="2514600"/>
          </a:xfrm>
          <a:prstGeom prst="rect">
            <a:avLst/>
          </a:prstGeom>
          <a:solidFill>
            <a:srgbClr val="F4F6F9"/>
          </a:solidFill>
          <a:ln w="9525">
            <a:solidFill>
              <a:srgbClr val="D9DEE6"/>
            </a:solidFill>
            <a:prstDash val="solid"/>
          </a:ln>
        </p:spPr>
      </p:sp>
      <p:sp>
        <p:nvSpPr>
          <p:cNvPr id="7" name="Text 4"/>
          <p:cNvSpPr txBox="1"/>
          <p:nvPr/>
        </p:nvSpPr>
        <p:spPr>
          <a:xfrm>
            <a:off x="5870448" y="1709928"/>
            <a:ext cx="5440680" cy="2240280"/>
          </a:xfrm>
          <a:prstGeom prst="rect">
            <a:avLst/>
          </a:prstGeom>
          <a:noFill/>
          <a:ln/>
        </p:spPr>
        <p:txBody>
          <a:bodyPr wrap="square" lIns="0" tIns="0" rIns="0" bIns="0" rtlCol="0" anchor="t"/>
          <a:lstStyle/>
          <a:p>
            <a:pPr indent="0" marL="0">
              <a:buNone/>
            </a:pPr>
            <a:r>
              <a:rPr lang="en-US" sz="900" dirty="0">
                <a:solidFill>
                  <a:srgbClr val="8A94A6"/>
                </a:solidFill>
                <a:latin typeface="Consolas" pitchFamily="34" charset="0"/>
                <a:ea typeface="Consolas" pitchFamily="34" charset="-122"/>
                <a:cs typeface="Consolas" pitchFamily="34" charset="-120"/>
              </a:rPr>
              <a:t>$ curl -X POST -d @duplicate.json …/api/books</a:t>
            </a:r>
            <a:endParaRPr lang="en-US" sz="900" dirty="0"/>
          </a:p>
          <a:p>
            <a:pPr indent="0" marL="0">
              <a:buNone/>
            </a:pPr>
            <a:r>
              <a:rPr lang="en-US" sz="900" b="1" dirty="0">
                <a:solidFill>
                  <a:srgbClr val="C0392B"/>
                </a:solidFill>
                <a:latin typeface="Consolas" pitchFamily="34" charset="0"/>
                <a:ea typeface="Consolas" pitchFamily="34" charset="-122"/>
                <a:cs typeface="Consolas" pitchFamily="34" charset="-120"/>
              </a:rPr>
              <a:t>HTTP/1.1 409</a:t>
            </a:r>
            <a:endParaRPr lang="en-US" sz="900" dirty="0"/>
          </a:p>
          <a:p>
            <a:pPr indent="0" marL="0">
              <a:buNone/>
            </a:pPr>
            <a:r>
              <a:rPr lang="en-US" sz="900" dirty="0">
                <a:solidFill>
                  <a:srgbClr val="14213D"/>
                </a:solidFill>
                <a:latin typeface="Consolas" pitchFamily="34" charset="0"/>
                <a:ea typeface="Consolas" pitchFamily="34" charset="-122"/>
                <a:cs typeface="Consolas" pitchFamily="34" charset="-120"/>
              </a:rPr>
              <a:t>Content-Type: application/problem+json</a:t>
            </a:r>
            <a:endParaRPr lang="en-US" sz="900" dirty="0"/>
          </a:p>
          <a:p>
            <a:pPr indent="0" marL="0">
              <a:buNone/>
            </a:pPr>
            <a:r>
              <a:rPr lang="en-US" sz="900" dirty="0">
                <a:solidFill>
                  <a:srgbClr val="14213D"/>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14213D"/>
                </a:solidFill>
                <a:latin typeface="Consolas" pitchFamily="34" charset="0"/>
                <a:ea typeface="Consolas" pitchFamily="34" charset="-122"/>
                <a:cs typeface="Consolas" pitchFamily="34" charset="-120"/>
              </a:rPr>
              <a:t>{</a:t>
            </a:r>
            <a:endParaRPr lang="en-US" sz="900" dirty="0"/>
          </a:p>
          <a:p>
            <a:pPr indent="0" marL="0">
              <a:buNone/>
            </a:pPr>
            <a:r>
              <a:rPr lang="en-US" sz="900" dirty="0">
                <a:solidFill>
                  <a:srgbClr val="14213D"/>
                </a:solidFill>
                <a:latin typeface="Consolas" pitchFamily="34" charset="0"/>
                <a:ea typeface="Consolas" pitchFamily="34" charset="-122"/>
                <a:cs typeface="Consolas" pitchFamily="34" charset="-120"/>
              </a:rPr>
              <a:t>  "detail": "A book titled «Spring in Action» by this author already exists",</a:t>
            </a:r>
            <a:endParaRPr lang="en-US" sz="900" dirty="0"/>
          </a:p>
          <a:p>
            <a:pPr indent="0" marL="0">
              <a:buNone/>
            </a:pPr>
            <a:r>
              <a:rPr lang="en-US" sz="900" dirty="0">
                <a:solidFill>
                  <a:srgbClr val="14213D"/>
                </a:solidFill>
                <a:latin typeface="Consolas" pitchFamily="34" charset="0"/>
                <a:ea typeface="Consolas" pitchFamily="34" charset="-122"/>
                <a:cs typeface="Consolas" pitchFamily="34" charset="-120"/>
              </a:rPr>
              <a:t>  "instance": "/api/books",</a:t>
            </a:r>
            <a:endParaRPr lang="en-US" sz="900" dirty="0"/>
          </a:p>
          <a:p>
            <a:pPr indent="0" marL="0">
              <a:buNone/>
            </a:pPr>
            <a:r>
              <a:rPr lang="en-US" sz="900" dirty="0">
                <a:solidFill>
                  <a:srgbClr val="14213D"/>
                </a:solidFill>
                <a:latin typeface="Consolas" pitchFamily="34" charset="0"/>
                <a:ea typeface="Consolas" pitchFamily="34" charset="-122"/>
                <a:cs typeface="Consolas" pitchFamily="34" charset="-120"/>
              </a:rPr>
              <a:t>  "status": 409,</a:t>
            </a:r>
            <a:endParaRPr lang="en-US" sz="900" dirty="0"/>
          </a:p>
          <a:p>
            <a:pPr indent="0" marL="0">
              <a:buNone/>
            </a:pPr>
            <a:r>
              <a:rPr lang="en-US" sz="900" dirty="0">
                <a:solidFill>
                  <a:srgbClr val="14213D"/>
                </a:solidFill>
                <a:latin typeface="Consolas" pitchFamily="34" charset="0"/>
                <a:ea typeface="Consolas" pitchFamily="34" charset="-122"/>
                <a:cs typeface="Consolas" pitchFamily="34" charset="-120"/>
              </a:rPr>
              <a:t>  "title": "Duplicate title",</a:t>
            </a:r>
            <a:endParaRPr lang="en-US" sz="900" dirty="0"/>
          </a:p>
          <a:p>
            <a:pPr indent="0" marL="0">
              <a:buNone/>
            </a:pPr>
            <a:r>
              <a:rPr lang="en-US" sz="900" dirty="0">
                <a:solidFill>
                  <a:srgbClr val="14213D"/>
                </a:solidFill>
                <a:latin typeface="Consolas" pitchFamily="34" charset="0"/>
                <a:ea typeface="Consolas" pitchFamily="34" charset="-122"/>
                <a:cs typeface="Consolas" pitchFamily="34" charset="-120"/>
              </a:rPr>
              <a:t>  "type": "…/errors/duplicate-title",</a:t>
            </a:r>
            <a:endParaRPr lang="en-US" sz="900" dirty="0"/>
          </a:p>
          <a:p>
            <a:pPr indent="0" marL="0">
              <a:buNone/>
            </a:pPr>
            <a:r>
              <a:rPr lang="en-US" sz="900" dirty="0">
                <a:solidFill>
                  <a:srgbClr val="14213D"/>
                </a:solidFill>
                <a:latin typeface="Consolas" pitchFamily="34" charset="0"/>
                <a:ea typeface="Consolas" pitchFamily="34" charset="-122"/>
                <a:cs typeface="Consolas" pitchFamily="34" charset="-120"/>
              </a:rPr>
              <a:t>  "bookTitle": "Spring in Action"</a:t>
            </a:r>
            <a:endParaRPr lang="en-US" sz="900" dirty="0"/>
          </a:p>
          <a:p>
            <a:pPr indent="0" marL="0">
              <a:buNone/>
            </a:pPr>
            <a:r>
              <a:rPr lang="en-US" sz="900" dirty="0">
                <a:solidFill>
                  <a:srgbClr val="14213D"/>
                </a:solidFill>
                <a:latin typeface="Consolas" pitchFamily="34" charset="0"/>
                <a:ea typeface="Consolas" pitchFamily="34" charset="-122"/>
                <a:cs typeface="Consolas" pitchFamily="34" charset="-120"/>
              </a:rPr>
              <a:t>}</a:t>
            </a:r>
            <a:endParaRPr lang="en-US" sz="900" dirty="0"/>
          </a:p>
        </p:txBody>
      </p:sp>
      <p:sp>
        <p:nvSpPr>
          <p:cNvPr id="8" name="Text 5"/>
          <p:cNvSpPr txBox="1"/>
          <p:nvPr/>
        </p:nvSpPr>
        <p:spPr>
          <a:xfrm>
            <a:off x="5669280" y="4251960"/>
            <a:ext cx="5806440" cy="1463040"/>
          </a:xfrm>
          <a:prstGeom prst="rect">
            <a:avLst/>
          </a:prstGeom>
          <a:noFill/>
          <a:ln/>
        </p:spPr>
        <p:txBody>
          <a:bodyPr wrap="square" lIns="0" tIns="0" rIns="0" bIns="0" rtlCol="0" anchor="t"/>
          <a:lstStyle/>
          <a:p>
            <a:pPr indent="0" marL="0">
              <a:lnSpc>
                <a:spcPct val="108000"/>
              </a:lnSpc>
              <a:spcAft>
                <a:spcPts val="800"/>
              </a:spcAft>
              <a:buNone/>
            </a:pPr>
            <a:r>
              <a:rPr lang="en-US" sz="1500" dirty="0">
                <a:solidFill>
                  <a:srgbClr val="14213D"/>
                </a:solidFill>
                <a:latin typeface="Calibri" pitchFamily="34" charset="0"/>
                <a:ea typeface="Calibri" pitchFamily="34" charset="-122"/>
                <a:cs typeface="Calibri" pitchFamily="34" charset="-120"/>
              </a:rPr>
              <a:t>Clients send BookRequest and get BookResponse, so they never set id or createdAt. Errors come back as problem details from one place. Paging (our variant) takes its default size from the lab 3 setting.</a:t>
            </a:r>
            <a:endParaRPr lang="en-US" sz="1500" dirty="0"/>
          </a:p>
        </p:txBody>
      </p:sp>
      <p:sp>
        <p:nvSpPr>
          <p:cNvPr id="25" name="Slide Number Placeholder 0"/>
          <p:cNvSpPr>
            <a:spLocks noGrp="1"/>
          </p:cNvSpPr>
          <p:nvPr>
            <p:ph type="sldNum" sz="quarter" idx="4294967295"/>
          </p:nvPr>
        </p:nvSpPr>
        <p:spPr>
          <a:xfrm>
            <a:off x="1106424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85800" y="274320"/>
            <a:ext cx="978408" cy="237744"/>
          </a:xfrm>
          <a:prstGeom prst="rect">
            <a:avLst/>
          </a:prstGeom>
          <a:solidFill>
            <a:srgbClr val="FFD54A"/>
          </a:solidFill>
          <a:ln w="12700">
            <a:solidFill>
              <a:srgbClr val="FFD54A"/>
            </a:solidFill>
            <a:prstDash val="solid"/>
          </a:ln>
        </p:spPr>
      </p:sp>
      <p:sp>
        <p:nvSpPr>
          <p:cNvPr id="3" name="Text 1"/>
          <p:cNvSpPr txBox="1"/>
          <p:nvPr/>
        </p:nvSpPr>
        <p:spPr>
          <a:xfrm>
            <a:off x="685800" y="274320"/>
            <a:ext cx="978408" cy="237744"/>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Final app</a:t>
            </a:r>
            <a:endParaRPr lang="en-US" sz="1100" dirty="0"/>
          </a:p>
        </p:txBody>
      </p:sp>
      <p:sp>
        <p:nvSpPr>
          <p:cNvPr id="4" name="Text 0"/>
          <p:cNvSpPr/>
          <p:nvPr>
            <p:ph idx="100" type="title" hasCustomPrompt="1"/>
          </p:nvPr>
        </p:nvSpPr>
        <p:spPr>
          <a:xfrm>
            <a:off x="685800" y="566928"/>
            <a:ext cx="10789920" cy="822960"/>
          </a:xfrm>
          <a:prstGeom prst="rect">
            <a:avLst/>
          </a:prstGeom>
          <a:noFill/>
          <a:ln/>
        </p:spPr>
        <p:txBody>
          <a:bodyPr wrap="square" lIns="0" tIns="0" rIns="0" bIns="0" rtlCol="0" anchor="t"/>
          <a:lstStyle/>
          <a:p>
            <a:pPr algn="l" indent="0" marL="0">
              <a:buNone/>
            </a:pPr>
            <a:r>
              <a:rPr lang="en-US" sz="3200" b="1" dirty="0">
                <a:solidFill>
                  <a:srgbClr val="14213D"/>
                </a:solidFill>
                <a:latin typeface="Georgia" pitchFamily="34" charset="0"/>
                <a:ea typeface="Georgia" pitchFamily="34" charset="-122"/>
                <a:cs typeface="Georgia" pitchFamily="34" charset="-120"/>
              </a:rPr>
              <a:t>The site</a:t>
            </a:r>
            <a:endParaRPr lang="en-US" sz="3200" dirty="0"/>
          </a:p>
        </p:txBody>
      </p:sp>
      <p:pic>
        <p:nvPicPr>
          <p:cNvPr id="5" name="Image 0" descr="/home/claude/deck/img/v6.png">    </p:cNvPr>
          <p:cNvPicPr>
            <a:picLocks noChangeAspect="1"/>
          </p:cNvPicPr>
          <p:nvPr/>
        </p:nvPicPr>
        <p:blipFill>
          <a:blip r:embed="rId1"/>
          <a:stretch>
            <a:fillRect/>
          </a:stretch>
        </p:blipFill>
        <p:spPr>
          <a:xfrm>
            <a:off x="777240" y="1508760"/>
            <a:ext cx="6583680" cy="4526280"/>
          </a:xfrm>
          <a:prstGeom prst="rect">
            <a:avLst/>
          </a:prstGeom>
          <a:effectLst>
            <a:outerShdw sx="100000" sy="100000" kx="0" ky="0" algn="bl" rotWithShape="0" blurRad="127000" dist="50800" dir="5400000">
              <a:srgbClr val="14213D">
                <a:alpha val="22000"/>
              </a:srgbClr>
            </a:outerShdw>
          </a:effectLst>
        </p:spPr>
      </p:pic>
      <p:sp>
        <p:nvSpPr>
          <p:cNvPr id="6" name="Text 3"/>
          <p:cNvSpPr txBox="1"/>
          <p:nvPr/>
        </p:nvSpPr>
        <p:spPr>
          <a:xfrm>
            <a:off x="7818120" y="1554480"/>
            <a:ext cx="3657600" cy="2011680"/>
          </a:xfrm>
          <a:prstGeom prst="rect">
            <a:avLst/>
          </a:prstGeom>
          <a:noFill/>
          <a:ln/>
        </p:spPr>
        <p:txBody>
          <a:bodyPr wrap="square" lIns="0" tIns="0" rIns="0" bIns="0" rtlCol="0" anchor="t"/>
          <a:lstStyle/>
          <a:p>
            <a:pPr indent="0" marL="0">
              <a:lnSpc>
                <a:spcPct val="108000"/>
              </a:lnSpc>
              <a:spcAft>
                <a:spcPts val="800"/>
              </a:spcAft>
              <a:buNone/>
            </a:pPr>
            <a:r>
              <a:rPr lang="en-US" sz="1500" b="1" dirty="0">
                <a:solidFill>
                  <a:srgbClr val="14213D"/>
                </a:solidFill>
                <a:latin typeface="Consolas" pitchFamily="34" charset="0"/>
                <a:ea typeface="Consolas" pitchFamily="34" charset="-122"/>
                <a:cs typeface="Consolas" pitchFamily="34" charset="-120"/>
              </a:rPr>
              <a:t>localhost:8080</a:t>
            </a:r>
            <a:endParaRPr lang="en-US" sz="1500" dirty="0"/>
          </a:p>
          <a:p>
            <a:pPr indent="0" marL="0">
              <a:lnSpc>
                <a:spcPct val="108000"/>
              </a:lnSpc>
              <a:spcAft>
                <a:spcPts val="800"/>
              </a:spcAft>
              <a:buNone/>
            </a:pPr>
            <a:r>
              <a:rPr lang="en-US" sz="1500" dirty="0">
                <a:solidFill>
                  <a:srgbClr val="14213D"/>
                </a:solidFill>
                <a:latin typeface="Calibri" pitchFamily="34" charset="0"/>
                <a:ea typeface="Calibri" pitchFamily="34" charset="-122"/>
                <a:cs typeface="Calibri" pitchFamily="34" charset="-120"/>
              </a:rPr>
              <a:t>The start page lists the seven labs with links to their endpoints. The shelf on the right is drawn from GET /api/books.</a:t>
            </a:r>
            <a:endParaRPr lang="en-US" sz="1500" dirty="0"/>
          </a:p>
        </p:txBody>
      </p:sp>
      <p:sp>
        <p:nvSpPr>
          <p:cNvPr id="7" name="Text 4"/>
          <p:cNvSpPr txBox="1"/>
          <p:nvPr/>
        </p:nvSpPr>
        <p:spPr>
          <a:xfrm>
            <a:off x="7818120" y="3657600"/>
            <a:ext cx="3657600" cy="2011680"/>
          </a:xfrm>
          <a:prstGeom prst="rect">
            <a:avLst/>
          </a:prstGeom>
          <a:noFill/>
          <a:ln/>
        </p:spPr>
        <p:txBody>
          <a:bodyPr wrap="square" lIns="0" tIns="0" rIns="0" bIns="0" rtlCol="0" anchor="t"/>
          <a:lstStyle/>
          <a:p>
            <a:pPr indent="0" marL="0">
              <a:lnSpc>
                <a:spcPct val="108000"/>
              </a:lnSpc>
              <a:spcAft>
                <a:spcPts val="800"/>
              </a:spcAft>
              <a:buNone/>
            </a:pPr>
            <a:r>
              <a:rPr lang="en-US" sz="1500" b="1" dirty="0">
                <a:solidFill>
                  <a:srgbClr val="14213D"/>
                </a:solidFill>
                <a:latin typeface="Consolas" pitchFamily="34" charset="0"/>
                <a:ea typeface="Consolas" pitchFamily="34" charset="-122"/>
                <a:cs typeface="Consolas" pitchFamily="34" charset="-120"/>
              </a:rPr>
              <a:t>/books</a:t>
            </a:r>
            <a:endParaRPr lang="en-US" sz="1500" dirty="0"/>
          </a:p>
          <a:p>
            <a:pPr indent="0" marL="0">
              <a:lnSpc>
                <a:spcPct val="108000"/>
              </a:lnSpc>
              <a:spcAft>
                <a:spcPts val="800"/>
              </a:spcAft>
              <a:buNone/>
            </a:pPr>
            <a:r>
              <a:rPr lang="en-US" sz="1500" dirty="0">
                <a:solidFill>
                  <a:srgbClr val="14213D"/>
                </a:solidFill>
                <a:latin typeface="Calibri" pitchFamily="34" charset="0"/>
                <a:ea typeface="Calibri" pitchFamily="34" charset="-122"/>
                <a:cs typeface="Calibri" pitchFamily="34" charset="-120"/>
              </a:rPr>
              <a:t>Catalogue with filters by author, title and genre. Each spine opens the book page with edit and delete.</a:t>
            </a:r>
            <a:endParaRPr lang="en-US" sz="1500" dirty="0"/>
          </a:p>
        </p:txBody>
      </p:sp>
      <p:sp>
        <p:nvSpPr>
          <p:cNvPr id="25" name="Slide Number Placeholder 0"/>
          <p:cNvSpPr>
            <a:spLocks noGrp="1"/>
          </p:cNvSpPr>
          <p:nvPr>
            <p:ph type="sldNum" sz="quarter" idx="4294967295"/>
          </p:nvPr>
        </p:nvSpPr>
        <p:spPr>
          <a:xfrm>
            <a:off x="1106424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85800" y="274320"/>
            <a:ext cx="978408" cy="237744"/>
          </a:xfrm>
          <a:prstGeom prst="rect">
            <a:avLst/>
          </a:prstGeom>
          <a:solidFill>
            <a:srgbClr val="FFD54A"/>
          </a:solidFill>
          <a:ln w="12700">
            <a:solidFill>
              <a:srgbClr val="FFD54A"/>
            </a:solidFill>
            <a:prstDash val="solid"/>
          </a:ln>
        </p:spPr>
      </p:sp>
      <p:sp>
        <p:nvSpPr>
          <p:cNvPr id="3" name="Text 1"/>
          <p:cNvSpPr txBox="1"/>
          <p:nvPr/>
        </p:nvSpPr>
        <p:spPr>
          <a:xfrm>
            <a:off x="685800" y="274320"/>
            <a:ext cx="978408" cy="237744"/>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Final app</a:t>
            </a:r>
            <a:endParaRPr lang="en-US" sz="1100" dirty="0"/>
          </a:p>
        </p:txBody>
      </p:sp>
      <p:sp>
        <p:nvSpPr>
          <p:cNvPr id="4" name="Text 0"/>
          <p:cNvSpPr/>
          <p:nvPr>
            <p:ph idx="100" type="title" hasCustomPrompt="1"/>
          </p:nvPr>
        </p:nvSpPr>
        <p:spPr>
          <a:xfrm>
            <a:off x="685800" y="566928"/>
            <a:ext cx="10789920" cy="822960"/>
          </a:xfrm>
          <a:prstGeom prst="rect">
            <a:avLst/>
          </a:prstGeom>
          <a:noFill/>
          <a:ln/>
        </p:spPr>
        <p:txBody>
          <a:bodyPr wrap="square" lIns="0" tIns="0" rIns="0" bIns="0" rtlCol="0" anchor="t"/>
          <a:lstStyle/>
          <a:p>
            <a:pPr algn="l" indent="0" marL="0">
              <a:buNone/>
            </a:pPr>
            <a:r>
              <a:rPr lang="en-US" sz="3200" b="1" dirty="0">
                <a:solidFill>
                  <a:srgbClr val="14213D"/>
                </a:solidFill>
                <a:latin typeface="Georgia" pitchFamily="34" charset="0"/>
                <a:ea typeface="Georgia" pitchFamily="34" charset="-122"/>
                <a:cs typeface="Georgia" pitchFamily="34" charset="-120"/>
              </a:rPr>
              <a:t>The same books through the API</a:t>
            </a:r>
            <a:endParaRPr lang="en-US" sz="3200" dirty="0"/>
          </a:p>
        </p:txBody>
      </p:sp>
      <p:pic>
        <p:nvPicPr>
          <p:cNvPr id="5" name="Image 0" descr="/home/claude/deck/img/v7.png">    </p:cNvPr>
          <p:cNvPicPr>
            <a:picLocks noChangeAspect="1"/>
          </p:cNvPicPr>
          <p:nvPr/>
        </p:nvPicPr>
        <p:blipFill>
          <a:blip r:embed="rId1"/>
          <a:stretch>
            <a:fillRect/>
          </a:stretch>
        </p:blipFill>
        <p:spPr>
          <a:xfrm>
            <a:off x="777240" y="1508760"/>
            <a:ext cx="6035040" cy="4526280"/>
          </a:xfrm>
          <a:prstGeom prst="rect">
            <a:avLst/>
          </a:prstGeom>
          <a:effectLst>
            <a:outerShdw sx="100000" sy="100000" kx="0" ky="0" algn="bl" rotWithShape="0" blurRad="127000" dist="50800" dir="5400000">
              <a:srgbClr val="14213D">
                <a:alpha val="22000"/>
              </a:srgbClr>
            </a:outerShdw>
          </a:effectLst>
        </p:spPr>
      </p:pic>
      <p:pic>
        <p:nvPicPr>
          <p:cNvPr id="6" name="Image 1" descr="/home/claude/deck/img/v8.png">    </p:cNvPr>
          <p:cNvPicPr>
            <a:picLocks noChangeAspect="1"/>
          </p:cNvPicPr>
          <p:nvPr/>
        </p:nvPicPr>
        <p:blipFill>
          <a:blip r:embed="rId2"/>
          <a:stretch>
            <a:fillRect/>
          </a:stretch>
        </p:blipFill>
        <p:spPr>
          <a:xfrm rot="120000">
            <a:off x="7269480" y="1554480"/>
            <a:ext cx="4160520" cy="2148840"/>
          </a:xfrm>
          <a:prstGeom prst="rect">
            <a:avLst/>
          </a:prstGeom>
          <a:effectLst>
            <a:outerShdw sx="100000" sy="100000" kx="0" ky="0" algn="bl" rotWithShape="0" blurRad="127000" dist="50800" dir="5400000">
              <a:srgbClr val="14213D">
                <a:alpha val="22000"/>
              </a:srgbClr>
            </a:outerShdw>
          </a:effectLst>
        </p:spPr>
      </p:pic>
      <p:sp>
        <p:nvSpPr>
          <p:cNvPr id="7" name="Text 3"/>
          <p:cNvSpPr txBox="1"/>
          <p:nvPr/>
        </p:nvSpPr>
        <p:spPr>
          <a:xfrm>
            <a:off x="7269480" y="4069080"/>
            <a:ext cx="4206240" cy="1828800"/>
          </a:xfrm>
          <a:prstGeom prst="rect">
            <a:avLst/>
          </a:prstGeom>
          <a:noFill/>
          <a:ln/>
        </p:spPr>
        <p:txBody>
          <a:bodyPr wrap="square" lIns="0" tIns="0" rIns="0" bIns="0" rtlCol="0" anchor="t"/>
          <a:lstStyle/>
          <a:p>
            <a:pPr indent="0" marL="0">
              <a:lnSpc>
                <a:spcPct val="108000"/>
              </a:lnSpc>
              <a:spcAft>
                <a:spcPts val="800"/>
              </a:spcAft>
              <a:buNone/>
            </a:pPr>
            <a:r>
              <a:rPr lang="en-US" sz="1500" dirty="0">
                <a:solidFill>
                  <a:srgbClr val="14213D"/>
                </a:solidFill>
                <a:latin typeface="Calibri" pitchFamily="34" charset="0"/>
                <a:ea typeface="Calibri" pitchFamily="34" charset="-122"/>
                <a:cs typeface="Calibri" pitchFamily="34" charset="-120"/>
              </a:rPr>
              <a:t>Ask for book 999 in the browser and you get this page. Ask the API and you get JSON with status 404. Same exception, two scoped @ControllerAdvice classes.</a:t>
            </a:r>
            <a:endParaRPr lang="en-US" sz="1500" dirty="0"/>
          </a:p>
        </p:txBody>
      </p:sp>
      <p:sp>
        <p:nvSpPr>
          <p:cNvPr id="25" name="Slide Number Placeholder 0"/>
          <p:cNvSpPr>
            <a:spLocks noGrp="1"/>
          </p:cNvSpPr>
          <p:nvPr>
            <p:ph type="sldNum" sz="quarter" idx="4294967295"/>
          </p:nvPr>
        </p:nvSpPr>
        <p:spPr>
          <a:xfrm>
            <a:off x="1106424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85800" y="274320"/>
            <a:ext cx="685800" cy="237744"/>
          </a:xfrm>
          <a:prstGeom prst="rect">
            <a:avLst/>
          </a:prstGeom>
          <a:solidFill>
            <a:srgbClr val="FFD54A"/>
          </a:solidFill>
          <a:ln w="12700">
            <a:solidFill>
              <a:srgbClr val="FFD54A"/>
            </a:solidFill>
            <a:prstDash val="solid"/>
          </a:ln>
        </p:spPr>
      </p:sp>
      <p:sp>
        <p:nvSpPr>
          <p:cNvPr id="3" name="Text 1"/>
          <p:cNvSpPr txBox="1"/>
          <p:nvPr/>
        </p:nvSpPr>
        <p:spPr>
          <a:xfrm>
            <a:off x="685800" y="274320"/>
            <a:ext cx="685800" cy="237744"/>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Notes</a:t>
            </a:r>
            <a:endParaRPr lang="en-US" sz="1100" dirty="0"/>
          </a:p>
        </p:txBody>
      </p:sp>
      <p:sp>
        <p:nvSpPr>
          <p:cNvPr id="4" name="Text 0"/>
          <p:cNvSpPr/>
          <p:nvPr>
            <p:ph idx="100" type="title" hasCustomPrompt="1"/>
          </p:nvPr>
        </p:nvSpPr>
        <p:spPr>
          <a:xfrm>
            <a:off x="685800" y="566928"/>
            <a:ext cx="10789920" cy="822960"/>
          </a:xfrm>
          <a:prstGeom prst="rect">
            <a:avLst/>
          </a:prstGeom>
          <a:noFill/>
          <a:ln/>
        </p:spPr>
        <p:txBody>
          <a:bodyPr wrap="square" lIns="0" tIns="0" rIns="0" bIns="0" rtlCol="0" anchor="t"/>
          <a:lstStyle/>
          <a:p>
            <a:pPr algn="l" indent="0" marL="0">
              <a:buNone/>
            </a:pPr>
            <a:r>
              <a:rPr lang="en-US" sz="3200" b="1" dirty="0">
                <a:solidFill>
                  <a:srgbClr val="14213D"/>
                </a:solidFill>
                <a:latin typeface="Georgia" pitchFamily="34" charset="0"/>
                <a:ea typeface="Georgia" pitchFamily="34" charset="-122"/>
                <a:cs typeface="Georgia" pitchFamily="34" charset="-120"/>
              </a:rPr>
              <a:t>What broke while we tested it</a:t>
            </a:r>
            <a:endParaRPr lang="en-US" sz="3200" dirty="0"/>
          </a:p>
        </p:txBody>
      </p:sp>
      <p:sp>
        <p:nvSpPr>
          <p:cNvPr id="5" name="Text 3"/>
          <p:cNvSpPr txBox="1"/>
          <p:nvPr/>
        </p:nvSpPr>
        <p:spPr>
          <a:xfrm>
            <a:off x="685800" y="1554480"/>
            <a:ext cx="457200" cy="457200"/>
          </a:xfrm>
          <a:prstGeom prst="rect">
            <a:avLst/>
          </a:prstGeom>
          <a:noFill/>
          <a:ln/>
        </p:spPr>
        <p:txBody>
          <a:bodyPr wrap="square" lIns="0" tIns="0" rIns="0" bIns="0" rtlCol="0" anchor="ctr"/>
          <a:lstStyle/>
          <a:p>
            <a:pPr indent="0" marL="0">
              <a:buNone/>
            </a:pPr>
            <a:r>
              <a:rPr lang="en-US" sz="2200" b="1" dirty="0">
                <a:solidFill>
                  <a:srgbClr val="14213D"/>
                </a:solidFill>
                <a:latin typeface="Georgia" pitchFamily="34" charset="0"/>
                <a:ea typeface="Georgia" pitchFamily="34" charset="-122"/>
                <a:cs typeface="Georgia" pitchFamily="34" charset="-120"/>
              </a:rPr>
              <a:t>1</a:t>
            </a:r>
            <a:endParaRPr lang="en-US" sz="2200" dirty="0"/>
          </a:p>
        </p:txBody>
      </p:sp>
      <p:sp>
        <p:nvSpPr>
          <p:cNvPr id="6" name="Shape 4"/>
          <p:cNvSpPr/>
          <p:nvPr/>
        </p:nvSpPr>
        <p:spPr>
          <a:xfrm>
            <a:off x="1188720" y="1609344"/>
            <a:ext cx="2871216" cy="329184"/>
          </a:xfrm>
          <a:prstGeom prst="rect">
            <a:avLst/>
          </a:prstGeom>
          <a:solidFill>
            <a:srgbClr val="FFD54A">
              <a:alpha val="75000"/>
            </a:srgbClr>
          </a:solidFill>
          <a:ln w="12700">
            <a:solidFill>
              <a:srgbClr val="FFD54A">
                <a:alpha val="0"/>
              </a:srgbClr>
            </a:solidFill>
            <a:prstDash val="solid"/>
          </a:ln>
        </p:spPr>
      </p:sp>
      <p:sp>
        <p:nvSpPr>
          <p:cNvPr id="7" name="Text 5"/>
          <p:cNvSpPr txBox="1"/>
          <p:nvPr/>
        </p:nvSpPr>
        <p:spPr>
          <a:xfrm>
            <a:off x="1234440" y="1554480"/>
            <a:ext cx="4663440" cy="45720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The form with errors crashed</a:t>
            </a:r>
            <a:endParaRPr lang="en-US" sz="1600" dirty="0"/>
          </a:p>
        </p:txBody>
      </p:sp>
      <p:sp>
        <p:nvSpPr>
          <p:cNvPr id="8" name="Text 6"/>
          <p:cNvSpPr txBox="1"/>
          <p:nvPr/>
        </p:nvSpPr>
        <p:spPr>
          <a:xfrm>
            <a:off x="1234440" y="2057400"/>
            <a:ext cx="4663440" cy="822960"/>
          </a:xfrm>
          <a:prstGeom prst="rect">
            <a:avLst/>
          </a:prstGeom>
          <a:noFill/>
          <a:ln/>
        </p:spPr>
        <p:txBody>
          <a:bodyPr wrap="square" lIns="0" tIns="0" rIns="0" bIns="0" rtlCol="0" anchor="t"/>
          <a:lstStyle/>
          <a:p>
            <a:pPr indent="0" marL="0">
              <a:lnSpc>
                <a:spcPct val="108000"/>
              </a:lnSpc>
              <a:spcAft>
                <a:spcPts val="800"/>
              </a:spcAft>
              <a:buNone/>
            </a:pPr>
            <a:r>
              <a:rPr lang="en-US" sz="1400" dirty="0">
                <a:solidFill>
                  <a:srgbClr val="4A5568"/>
                </a:solidFill>
                <a:latin typeface="Calibri" pitchFamily="34" charset="0"/>
                <a:ea typeface="Calibri" pitchFamily="34" charset="-122"/>
                <a:cs typeface="Calibri" pitchFamily="34" charset="-120"/>
              </a:rPr>
              <a:t>The error list sat outside th:object. We wrapped both in one element.</a:t>
            </a:r>
            <a:endParaRPr lang="en-US" sz="1400" dirty="0"/>
          </a:p>
        </p:txBody>
      </p:sp>
      <p:sp>
        <p:nvSpPr>
          <p:cNvPr id="9" name="Text 7"/>
          <p:cNvSpPr txBox="1"/>
          <p:nvPr/>
        </p:nvSpPr>
        <p:spPr>
          <a:xfrm>
            <a:off x="6172200" y="1554480"/>
            <a:ext cx="457200" cy="457200"/>
          </a:xfrm>
          <a:prstGeom prst="rect">
            <a:avLst/>
          </a:prstGeom>
          <a:noFill/>
          <a:ln/>
        </p:spPr>
        <p:txBody>
          <a:bodyPr wrap="square" lIns="0" tIns="0" rIns="0" bIns="0" rtlCol="0" anchor="ctr"/>
          <a:lstStyle/>
          <a:p>
            <a:pPr indent="0" marL="0">
              <a:buNone/>
            </a:pPr>
            <a:r>
              <a:rPr lang="en-US" sz="2200" b="1" dirty="0">
                <a:solidFill>
                  <a:srgbClr val="14213D"/>
                </a:solidFill>
                <a:latin typeface="Georgia" pitchFamily="34" charset="0"/>
                <a:ea typeface="Georgia" pitchFamily="34" charset="-122"/>
                <a:cs typeface="Georgia" pitchFamily="34" charset="-120"/>
              </a:rPr>
              <a:t>2</a:t>
            </a:r>
            <a:endParaRPr lang="en-US" sz="2200" dirty="0"/>
          </a:p>
        </p:txBody>
      </p:sp>
      <p:sp>
        <p:nvSpPr>
          <p:cNvPr id="10" name="Shape 8"/>
          <p:cNvSpPr/>
          <p:nvPr/>
        </p:nvSpPr>
        <p:spPr>
          <a:xfrm>
            <a:off x="6675120" y="1609344"/>
            <a:ext cx="2871216" cy="329184"/>
          </a:xfrm>
          <a:prstGeom prst="rect">
            <a:avLst/>
          </a:prstGeom>
          <a:solidFill>
            <a:srgbClr val="FFD54A">
              <a:alpha val="75000"/>
            </a:srgbClr>
          </a:solidFill>
          <a:ln w="12700">
            <a:solidFill>
              <a:srgbClr val="FFD54A">
                <a:alpha val="0"/>
              </a:srgbClr>
            </a:solidFill>
            <a:prstDash val="solid"/>
          </a:ln>
        </p:spPr>
      </p:sp>
      <p:sp>
        <p:nvSpPr>
          <p:cNvPr id="11" name="Text 9"/>
          <p:cNvSpPr txBox="1"/>
          <p:nvPr/>
        </p:nvSpPr>
        <p:spPr>
          <a:xfrm>
            <a:off x="6720840" y="1554480"/>
            <a:ext cx="4663440" cy="45720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English pages showed Russian</a:t>
            </a:r>
            <a:endParaRPr lang="en-US" sz="1600" dirty="0"/>
          </a:p>
        </p:txBody>
      </p:sp>
      <p:sp>
        <p:nvSpPr>
          <p:cNvPr id="12" name="Text 10"/>
          <p:cNvSpPr txBox="1"/>
          <p:nvPr/>
        </p:nvSpPr>
        <p:spPr>
          <a:xfrm>
            <a:off x="6720840" y="2057400"/>
            <a:ext cx="4663440" cy="822960"/>
          </a:xfrm>
          <a:prstGeom prst="rect">
            <a:avLst/>
          </a:prstGeom>
          <a:noFill/>
          <a:ln/>
        </p:spPr>
        <p:txBody>
          <a:bodyPr wrap="square" lIns="0" tIns="0" rIns="0" bIns="0" rtlCol="0" anchor="t"/>
          <a:lstStyle/>
          <a:p>
            <a:pPr indent="0" marL="0">
              <a:lnSpc>
                <a:spcPct val="108000"/>
              </a:lnSpc>
              <a:spcAft>
                <a:spcPts val="800"/>
              </a:spcAft>
              <a:buNone/>
            </a:pPr>
            <a:r>
              <a:rPr lang="en-US" sz="1400" dirty="0">
                <a:solidFill>
                  <a:srgbClr val="4A5568"/>
                </a:solidFill>
                <a:latin typeface="Calibri" pitchFamily="34" charset="0"/>
                <a:ea typeface="Calibri" pitchFamily="34" charset="-122"/>
                <a:cs typeface="Calibri" pitchFamily="34" charset="-120"/>
              </a:rPr>
              <a:t>Spring used the Windows locale. Turned off fallback-to-system-locale.</a:t>
            </a:r>
            <a:endParaRPr lang="en-US" sz="1400" dirty="0"/>
          </a:p>
        </p:txBody>
      </p:sp>
      <p:sp>
        <p:nvSpPr>
          <p:cNvPr id="13" name="Text 11"/>
          <p:cNvSpPr txBox="1"/>
          <p:nvPr/>
        </p:nvSpPr>
        <p:spPr>
          <a:xfrm>
            <a:off x="685800" y="3017520"/>
            <a:ext cx="457200" cy="457200"/>
          </a:xfrm>
          <a:prstGeom prst="rect">
            <a:avLst/>
          </a:prstGeom>
          <a:noFill/>
          <a:ln/>
        </p:spPr>
        <p:txBody>
          <a:bodyPr wrap="square" lIns="0" tIns="0" rIns="0" bIns="0" rtlCol="0" anchor="ctr"/>
          <a:lstStyle/>
          <a:p>
            <a:pPr indent="0" marL="0">
              <a:buNone/>
            </a:pPr>
            <a:r>
              <a:rPr lang="en-US" sz="2200" b="1" dirty="0">
                <a:solidFill>
                  <a:srgbClr val="14213D"/>
                </a:solidFill>
                <a:latin typeface="Georgia" pitchFamily="34" charset="0"/>
                <a:ea typeface="Georgia" pitchFamily="34" charset="-122"/>
                <a:cs typeface="Georgia" pitchFamily="34" charset="-120"/>
              </a:rPr>
              <a:t>3</a:t>
            </a:r>
            <a:endParaRPr lang="en-US" sz="2200" dirty="0"/>
          </a:p>
        </p:txBody>
      </p:sp>
      <p:sp>
        <p:nvSpPr>
          <p:cNvPr id="14" name="Shape 12"/>
          <p:cNvSpPr/>
          <p:nvPr/>
        </p:nvSpPr>
        <p:spPr>
          <a:xfrm>
            <a:off x="1188720" y="3072384"/>
            <a:ext cx="2679192" cy="329184"/>
          </a:xfrm>
          <a:prstGeom prst="rect">
            <a:avLst/>
          </a:prstGeom>
          <a:solidFill>
            <a:srgbClr val="FFD54A">
              <a:alpha val="75000"/>
            </a:srgbClr>
          </a:solidFill>
          <a:ln w="12700">
            <a:solidFill>
              <a:srgbClr val="FFD54A">
                <a:alpha val="0"/>
              </a:srgbClr>
            </a:solidFill>
            <a:prstDash val="solid"/>
          </a:ln>
        </p:spPr>
      </p:sp>
      <p:sp>
        <p:nvSpPr>
          <p:cNvPr id="15" name="Text 13"/>
          <p:cNvSpPr txBox="1"/>
          <p:nvPr/>
        </p:nvSpPr>
        <p:spPr>
          <a:xfrm>
            <a:off x="1234440" y="3017520"/>
            <a:ext cx="4663440" cy="45720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Audit missed removeTwice()</a:t>
            </a:r>
            <a:endParaRPr lang="en-US" sz="1600" dirty="0"/>
          </a:p>
        </p:txBody>
      </p:sp>
      <p:sp>
        <p:nvSpPr>
          <p:cNvPr id="16" name="Text 14"/>
          <p:cNvSpPr txBox="1"/>
          <p:nvPr/>
        </p:nvSpPr>
        <p:spPr>
          <a:xfrm>
            <a:off x="1234440" y="3520440"/>
            <a:ext cx="4663440" cy="822960"/>
          </a:xfrm>
          <a:prstGeom prst="rect">
            <a:avLst/>
          </a:prstGeom>
          <a:noFill/>
          <a:ln/>
        </p:spPr>
        <p:txBody>
          <a:bodyPr wrap="square" lIns="0" tIns="0" rIns="0" bIns="0" rtlCol="0" anchor="t"/>
          <a:lstStyle/>
          <a:p>
            <a:pPr indent="0" marL="0">
              <a:lnSpc>
                <a:spcPct val="108000"/>
              </a:lnSpc>
              <a:spcAft>
                <a:spcPts val="800"/>
              </a:spcAft>
              <a:buNone/>
            </a:pPr>
            <a:r>
              <a:rPr lang="en-US" sz="1400" dirty="0">
                <a:solidFill>
                  <a:srgbClr val="4A5568"/>
                </a:solidFill>
                <a:latin typeface="Calibri" pitchFamily="34" charset="0"/>
                <a:ea typeface="Calibri" pitchFamily="34" charset="-122"/>
                <a:cs typeface="Calibri" pitchFamily="34" charset="-120"/>
              </a:rPr>
              <a:t>Calls through "this" skip the proxy. Fixed with a lazy self-reference.</a:t>
            </a:r>
            <a:endParaRPr lang="en-US" sz="1400" dirty="0"/>
          </a:p>
        </p:txBody>
      </p:sp>
      <p:sp>
        <p:nvSpPr>
          <p:cNvPr id="17" name="Text 15"/>
          <p:cNvSpPr txBox="1"/>
          <p:nvPr/>
        </p:nvSpPr>
        <p:spPr>
          <a:xfrm>
            <a:off x="6172200" y="3017520"/>
            <a:ext cx="457200" cy="457200"/>
          </a:xfrm>
          <a:prstGeom prst="rect">
            <a:avLst/>
          </a:prstGeom>
          <a:noFill/>
          <a:ln/>
        </p:spPr>
        <p:txBody>
          <a:bodyPr wrap="square" lIns="0" tIns="0" rIns="0" bIns="0" rtlCol="0" anchor="ctr"/>
          <a:lstStyle/>
          <a:p>
            <a:pPr indent="0" marL="0">
              <a:buNone/>
            </a:pPr>
            <a:r>
              <a:rPr lang="en-US" sz="2200" b="1" dirty="0">
                <a:solidFill>
                  <a:srgbClr val="14213D"/>
                </a:solidFill>
                <a:latin typeface="Georgia" pitchFamily="34" charset="0"/>
                <a:ea typeface="Georgia" pitchFamily="34" charset="-122"/>
                <a:cs typeface="Georgia" pitchFamily="34" charset="-120"/>
              </a:rPr>
              <a:t>4</a:t>
            </a:r>
            <a:endParaRPr lang="en-US" sz="2200" dirty="0"/>
          </a:p>
        </p:txBody>
      </p:sp>
      <p:sp>
        <p:nvSpPr>
          <p:cNvPr id="18" name="Shape 16"/>
          <p:cNvSpPr/>
          <p:nvPr/>
        </p:nvSpPr>
        <p:spPr>
          <a:xfrm>
            <a:off x="6675120" y="3072384"/>
            <a:ext cx="3255264" cy="329184"/>
          </a:xfrm>
          <a:prstGeom prst="rect">
            <a:avLst/>
          </a:prstGeom>
          <a:solidFill>
            <a:srgbClr val="FFD54A">
              <a:alpha val="75000"/>
            </a:srgbClr>
          </a:solidFill>
          <a:ln w="12700">
            <a:solidFill>
              <a:srgbClr val="FFD54A">
                <a:alpha val="0"/>
              </a:srgbClr>
            </a:solidFill>
            <a:prstDash val="solid"/>
          </a:ln>
        </p:spPr>
      </p:sp>
      <p:sp>
        <p:nvSpPr>
          <p:cNvPr id="19" name="Text 17"/>
          <p:cNvSpPr txBox="1"/>
          <p:nvPr/>
        </p:nvSpPr>
        <p:spPr>
          <a:xfrm>
            <a:off x="6720840" y="3017520"/>
            <a:ext cx="4663440" cy="45720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/actuator/env said 3, app used 7</a:t>
            </a:r>
            <a:endParaRPr lang="en-US" sz="1600" dirty="0"/>
          </a:p>
        </p:txBody>
      </p:sp>
      <p:sp>
        <p:nvSpPr>
          <p:cNvPr id="20" name="Text 18"/>
          <p:cNvSpPr txBox="1"/>
          <p:nvPr/>
        </p:nvSpPr>
        <p:spPr>
          <a:xfrm>
            <a:off x="6720840" y="3520440"/>
            <a:ext cx="4663440" cy="822960"/>
          </a:xfrm>
          <a:prstGeom prst="rect">
            <a:avLst/>
          </a:prstGeom>
          <a:noFill/>
          <a:ln/>
        </p:spPr>
        <p:txBody>
          <a:bodyPr wrap="square" lIns="0" tIns="0" rIns="0" bIns="0" rtlCol="0" anchor="t"/>
          <a:lstStyle/>
          <a:p>
            <a:pPr indent="0" marL="0">
              <a:lnSpc>
                <a:spcPct val="108000"/>
              </a:lnSpc>
              <a:spcAft>
                <a:spcPts val="800"/>
              </a:spcAft>
              <a:buNone/>
            </a:pPr>
            <a:r>
              <a:rPr lang="en-US" sz="1400" dirty="0">
                <a:solidFill>
                  <a:srgbClr val="4A5568"/>
                </a:solidFill>
                <a:latin typeface="Calibri" pitchFamily="34" charset="0"/>
                <a:ea typeface="Calibri" pitchFamily="34" charset="-122"/>
                <a:cs typeface="Calibri" pitchFamily="34" charset="-120"/>
              </a:rPr>
              <a:t>The endpoint looks the key up literally; binding is relaxed. Not a bug.</a:t>
            </a:r>
            <a:endParaRPr lang="en-US" sz="1400" dirty="0"/>
          </a:p>
        </p:txBody>
      </p:sp>
      <p:sp>
        <p:nvSpPr>
          <p:cNvPr id="21" name="Text 19"/>
          <p:cNvSpPr txBox="1"/>
          <p:nvPr/>
        </p:nvSpPr>
        <p:spPr>
          <a:xfrm>
            <a:off x="685800" y="4480560"/>
            <a:ext cx="457200" cy="457200"/>
          </a:xfrm>
          <a:prstGeom prst="rect">
            <a:avLst/>
          </a:prstGeom>
          <a:noFill/>
          <a:ln/>
        </p:spPr>
        <p:txBody>
          <a:bodyPr wrap="square" lIns="0" tIns="0" rIns="0" bIns="0" rtlCol="0" anchor="ctr"/>
          <a:lstStyle/>
          <a:p>
            <a:pPr indent="0" marL="0">
              <a:buNone/>
            </a:pPr>
            <a:r>
              <a:rPr lang="en-US" sz="2200" b="1" dirty="0">
                <a:solidFill>
                  <a:srgbClr val="14213D"/>
                </a:solidFill>
                <a:latin typeface="Georgia" pitchFamily="34" charset="0"/>
                <a:ea typeface="Georgia" pitchFamily="34" charset="-122"/>
                <a:cs typeface="Georgia" pitchFamily="34" charset="-120"/>
              </a:rPr>
              <a:t>5</a:t>
            </a:r>
            <a:endParaRPr lang="en-US" sz="2200" dirty="0"/>
          </a:p>
        </p:txBody>
      </p:sp>
      <p:sp>
        <p:nvSpPr>
          <p:cNvPr id="22" name="Shape 20"/>
          <p:cNvSpPr/>
          <p:nvPr/>
        </p:nvSpPr>
        <p:spPr>
          <a:xfrm>
            <a:off x="1188720" y="4535424"/>
            <a:ext cx="2583180" cy="329184"/>
          </a:xfrm>
          <a:prstGeom prst="rect">
            <a:avLst/>
          </a:prstGeom>
          <a:solidFill>
            <a:srgbClr val="FFD54A">
              <a:alpha val="75000"/>
            </a:srgbClr>
          </a:solidFill>
          <a:ln w="12700">
            <a:solidFill>
              <a:srgbClr val="FFD54A">
                <a:alpha val="0"/>
              </a:srgbClr>
            </a:solidFill>
            <a:prstDash val="solid"/>
          </a:ln>
        </p:spPr>
      </p:sp>
      <p:sp>
        <p:nvSpPr>
          <p:cNvPr id="23" name="Text 21"/>
          <p:cNvSpPr txBox="1"/>
          <p:nvPr/>
        </p:nvSpPr>
        <p:spPr>
          <a:xfrm>
            <a:off x="1234440" y="4480560"/>
            <a:ext cx="4663440" cy="45720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No start without @Primary</a:t>
            </a:r>
            <a:endParaRPr lang="en-US" sz="1600" dirty="0"/>
          </a:p>
        </p:txBody>
      </p:sp>
      <p:sp>
        <p:nvSpPr>
          <p:cNvPr id="24" name="Text 22"/>
          <p:cNvSpPr txBox="1"/>
          <p:nvPr/>
        </p:nvSpPr>
        <p:spPr>
          <a:xfrm>
            <a:off x="1234440" y="4983480"/>
            <a:ext cx="4663440" cy="822960"/>
          </a:xfrm>
          <a:prstGeom prst="rect">
            <a:avLst/>
          </a:prstGeom>
          <a:noFill/>
          <a:ln/>
        </p:spPr>
        <p:txBody>
          <a:bodyPr wrap="square" lIns="0" tIns="0" rIns="0" bIns="0" rtlCol="0" anchor="t"/>
          <a:lstStyle/>
          <a:p>
            <a:pPr indent="0" marL="0">
              <a:lnSpc>
                <a:spcPct val="108000"/>
              </a:lnSpc>
              <a:spcAft>
                <a:spcPts val="800"/>
              </a:spcAft>
              <a:buNone/>
            </a:pPr>
            <a:r>
              <a:rPr lang="en-US" sz="1400" dirty="0">
                <a:solidFill>
                  <a:srgbClr val="4A5568"/>
                </a:solidFill>
                <a:latin typeface="Calibri" pitchFamily="34" charset="0"/>
                <a:ea typeface="Calibri" pitchFamily="34" charset="-122"/>
                <a:cs typeface="Calibri" pitchFamily="34" charset="-120"/>
              </a:rPr>
              <a:t>Four candidates. @Fallback only helps when one bean is left.</a:t>
            </a:r>
            <a:endParaRPr lang="en-US" sz="1400" dirty="0"/>
          </a:p>
        </p:txBody>
      </p:sp>
      <p:sp>
        <p:nvSpPr>
          <p:cNvPr id="25" name="Slide Number Placeholder 0"/>
          <p:cNvSpPr>
            <a:spLocks noGrp="1"/>
          </p:cNvSpPr>
          <p:nvPr>
            <p:ph type="sldNum" sz="quarter" idx="4294967295"/>
          </p:nvPr>
        </p:nvSpPr>
        <p:spPr>
          <a:xfrm>
            <a:off x="1106424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731520"/>
            <a:ext cx="7315200" cy="73152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What we take from it</a:t>
            </a:r>
            <a:endParaRPr lang="en-US" sz="3400" dirty="0"/>
          </a:p>
        </p:txBody>
      </p:sp>
      <p:sp>
        <p:nvSpPr>
          <p:cNvPr id="3" name="Text 1"/>
          <p:cNvSpPr txBox="1"/>
          <p:nvPr/>
        </p:nvSpPr>
        <p:spPr>
          <a:xfrm>
            <a:off x="731520" y="1737360"/>
            <a:ext cx="6766560" cy="3291840"/>
          </a:xfrm>
          <a:prstGeom prst="rect">
            <a:avLst/>
          </a:prstGeom>
          <a:noFill/>
          <a:ln/>
        </p:spPr>
        <p:txBody>
          <a:bodyPr wrap="square" lIns="0" tIns="0" rIns="0" bIns="0" rtlCol="0" anchor="t"/>
          <a:lstStyle/>
          <a:p>
            <a:pPr marL="228600" indent="-228600">
              <a:spcAft>
                <a:spcPts val="1600"/>
              </a:spcAft>
              <a:buSzPct val="100000"/>
              <a:buChar char="•"/>
            </a:pPr>
            <a:r>
              <a:rPr lang="en-US" sz="1900" dirty="0">
                <a:solidFill>
                  <a:srgbClr val="DCE2EE"/>
                </a:solidFill>
                <a:latin typeface="Calibri" pitchFamily="34" charset="0"/>
                <a:ea typeface="Calibri" pitchFamily="34" charset="-122"/>
                <a:cs typeface="Calibri" pitchFamily="34" charset="-120"/>
              </a:rPr>
              <a:t>Spring builds and connects the objects; our job is to say which bean goes where.</a:t>
            </a:r>
            <a:endParaRPr lang="en-US" sz="1900" dirty="0"/>
          </a:p>
          <a:p>
            <a:pPr marL="228600" indent="-228600">
              <a:spcAft>
                <a:spcPts val="1600"/>
              </a:spcAft>
              <a:buSzPct val="100000"/>
              <a:buChar char="•"/>
            </a:pPr>
            <a:r>
              <a:rPr lang="en-US" sz="1900" dirty="0">
                <a:solidFill>
                  <a:srgbClr val="DCE2EE"/>
                </a:solidFill>
                <a:latin typeface="Calibri" pitchFamily="34" charset="0"/>
                <a:ea typeface="Calibri" pitchFamily="34" charset="-122"/>
                <a:cs typeface="Calibri" pitchFamily="34" charset="-120"/>
              </a:rPr>
              <a:t>Settings belong outside the code, and a wrong value should stop the start.</a:t>
            </a:r>
            <a:endParaRPr lang="en-US" sz="1900" dirty="0"/>
          </a:p>
          <a:p>
            <a:pPr marL="228600" indent="-228600">
              <a:spcAft>
                <a:spcPts val="1600"/>
              </a:spcAft>
              <a:buSzPct val="100000"/>
              <a:buChar char="•"/>
            </a:pPr>
            <a:r>
              <a:rPr lang="en-US" sz="1900" dirty="0">
                <a:solidFill>
                  <a:srgbClr val="DCE2EE"/>
                </a:solidFill>
                <a:latin typeface="Calibri" pitchFamily="34" charset="0"/>
                <a:ea typeface="Calibri" pitchFamily="34" charset="-122"/>
                <a:cs typeface="Calibri" pitchFamily="34" charset="-120"/>
              </a:rPr>
              <a:t>Aspects keep logging and audit out of the service, if calls go through the proxy.</a:t>
            </a:r>
            <a:endParaRPr lang="en-US" sz="1900" dirty="0"/>
          </a:p>
          <a:p>
            <a:pPr marL="228600" indent="-228600">
              <a:spcAft>
                <a:spcPts val="1600"/>
              </a:spcAft>
              <a:buSzPct val="100000"/>
              <a:buChar char="•"/>
            </a:pPr>
            <a:r>
              <a:rPr lang="en-US" sz="1900" dirty="0">
                <a:solidFill>
                  <a:srgbClr val="DCE2EE"/>
                </a:solidFill>
                <a:latin typeface="Calibri" pitchFamily="34" charset="0"/>
                <a:ea typeface="Calibri" pitchFamily="34" charset="-122"/>
                <a:cs typeface="Calibri" pitchFamily="34" charset="-120"/>
              </a:rPr>
              <a:t>A good API tells you what happened with the status code first.</a:t>
            </a:r>
            <a:endParaRPr lang="en-US" sz="1900" dirty="0"/>
          </a:p>
        </p:txBody>
      </p:sp>
      <p:sp>
        <p:nvSpPr>
          <p:cNvPr id="4" name="Shape 2"/>
          <p:cNvSpPr/>
          <p:nvPr/>
        </p:nvSpPr>
        <p:spPr>
          <a:xfrm>
            <a:off x="8138160" y="1783080"/>
            <a:ext cx="3383280" cy="1920240"/>
          </a:xfrm>
          <a:prstGeom prst="rect">
            <a:avLst/>
          </a:prstGeom>
          <a:solidFill>
            <a:srgbClr val="1D2C50"/>
          </a:solidFill>
          <a:ln w="12700">
            <a:solidFill>
              <a:srgbClr val="1D2C50"/>
            </a:solidFill>
            <a:prstDash val="solid"/>
          </a:ln>
        </p:spPr>
      </p:sp>
      <p:sp>
        <p:nvSpPr>
          <p:cNvPr id="5" name="Text 3"/>
          <p:cNvSpPr txBox="1"/>
          <p:nvPr/>
        </p:nvSpPr>
        <p:spPr>
          <a:xfrm>
            <a:off x="8321040" y="1920240"/>
            <a:ext cx="3108960" cy="1691640"/>
          </a:xfrm>
          <a:prstGeom prst="rect">
            <a:avLst/>
          </a:prstGeom>
          <a:noFill/>
          <a:ln/>
        </p:spPr>
        <p:txBody>
          <a:bodyPr wrap="square" lIns="0" tIns="0" rIns="0" bIns="0" rtlCol="0" anchor="t"/>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a:p>
            <a:pPr indent="0" marL="0">
              <a:spcAft>
                <a:spcPts val="600"/>
              </a:spcAft>
              <a:buNone/>
            </a:pPr>
            <a:r>
              <a:rPr lang="en-US" sz="1500" dirty="0">
                <a:solidFill>
                  <a:srgbClr val="FFD54A"/>
                </a:solidFill>
                <a:latin typeface="Consolas" pitchFamily="34" charset="0"/>
                <a:ea typeface="Consolas" pitchFamily="34" charset="-122"/>
                <a:cs typeface="Consolas" pitchFamily="34" charset="-120"/>
              </a:rPr>
              <a:t>mvnw.cmd spring-boot:run</a:t>
            </a:r>
            <a:endParaRPr lang="en-US" sz="1500" dirty="0"/>
          </a:p>
          <a:p>
            <a:pPr indent="0" marL="0">
              <a:spcAft>
                <a:spcPts val="600"/>
              </a:spcAft>
              <a:buNone/>
            </a:pPr>
            <a:r>
              <a:rPr lang="en-US" sz="1500" dirty="0">
                <a:solidFill>
                  <a:srgbClr val="FFD54A"/>
                </a:solidFill>
                <a:latin typeface="Consolas" pitchFamily="34" charset="0"/>
                <a:ea typeface="Consolas" pitchFamily="34" charset="-122"/>
                <a:cs typeface="Consolas" pitchFamily="34" charset="-120"/>
              </a:rPr>
              <a:t>localhost:8080</a:t>
            </a:r>
            <a:endParaRPr lang="en-US" sz="1500" dirty="0"/>
          </a:p>
          <a:p>
            <a:pPr indent="0" marL="0">
              <a:spcAft>
                <a:spcPts val="600"/>
              </a:spcAft>
              <a:buNone/>
            </a:pPr>
            <a:r>
              <a:rPr lang="en-US" sz="1300" dirty="0">
                <a:solidFill>
                  <a:srgbClr val="AEB8CC"/>
                </a:solidFill>
                <a:latin typeface="Calibri" pitchFamily="34" charset="0"/>
                <a:ea typeface="Calibri" pitchFamily="34" charset="-122"/>
                <a:cs typeface="Calibri" pitchFamily="34" charset="-120"/>
              </a:rPr>
              <a:t>github.com/Alilishka3/spring-lab-01</a:t>
            </a:r>
            <a:endParaRPr lang="en-US" sz="1500" dirty="0"/>
          </a:p>
        </p:txBody>
      </p:sp>
      <p:sp>
        <p:nvSpPr>
          <p:cNvPr id="6" name="Text 4"/>
          <p:cNvSpPr txBox="1"/>
          <p:nvPr/>
        </p:nvSpPr>
        <p:spPr>
          <a:xfrm>
            <a:off x="731520" y="5349240"/>
            <a:ext cx="5486400" cy="548640"/>
          </a:xfrm>
          <a:prstGeom prst="rect">
            <a:avLst/>
          </a:prstGeom>
          <a:noFill/>
          <a:ln/>
        </p:spPr>
        <p:txBody>
          <a:bodyPr wrap="square" lIns="0" tIns="0" rIns="0" bIns="0" rtlCol="0" anchor="ctr"/>
          <a:lstStyle/>
          <a:p>
            <a:pPr indent="0" marL="0">
              <a:buNone/>
            </a:pPr>
            <a:r>
              <a:rPr lang="en-US" sz="2400" b="1" dirty="0">
                <a:solidFill>
                  <a:srgbClr val="FFD54A"/>
                </a:solidFill>
                <a:latin typeface="Georgia" pitchFamily="34" charset="0"/>
                <a:ea typeface="Georgia" pitchFamily="34" charset="-122"/>
                <a:cs typeface="Georgia" pitchFamily="34" charset="-120"/>
              </a:rPr>
              <a:t>Thank you. Questions?</a:t>
            </a:r>
            <a:endParaRPr lang="en-US" sz="2400" dirty="0"/>
          </a:p>
        </p:txBody>
      </p:sp>
    </p:spTree>
  </p:cSld>
  <p:clrMapOvr>
    <a:masterClrMapping/>
  </p:clrMapOvr>
</p:sld>
</file>

<file path=ppt/theme/theme1.xml><?xml version="1.0" encoding="utf-8"?>
<a:theme xmlns:a="http://schemas.openxmlformats.org/drawingml/2006/main" name="Lab notebook">
  <a:themeElements>
    <a:clrScheme name="Lab notebook">
      <a:dk1>
        <a:srgbClr val="14213D"/>
      </a:dk1>
      <a:lt1>
        <a:srgbClr val="FFFFFF"/>
      </a:lt1>
      <a:dk2>
        <a:srgbClr val="2B3A67"/>
      </a:dk2>
      <a:lt2>
        <a:srgbClr val="F4F6F9"/>
      </a:lt2>
      <a:accent1>
        <a:srgbClr val="2B3A67"/>
      </a:accent1>
      <a:accent2>
        <a:srgbClr val="E0A800"/>
      </a:accent2>
      <a:accent3>
        <a:srgbClr val="1E7D4F"/>
      </a:accent3>
      <a:accent4>
        <a:srgbClr val="C0392B"/>
      </a:accent4>
      <a:accent5>
        <a:srgbClr val="6B5CA5"/>
      </a:accent5>
      <a:accent6>
        <a:srgbClr val="8A94A6"/>
      </a:accent6>
      <a:hlink>
        <a:srgbClr val="2B3A67"/>
      </a:hlink>
      <a:folHlink>
        <a:srgbClr val="6B5CA5"/>
      </a:folHlink>
    </a:clrScheme>
    <a:fontScheme name="Lab notebook">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 Lab Library</dc:title>
  <dc:subject>PptxGenJS Presentation</dc:subject>
  <dc:creator>Altai Ali, Kalmyrza Gulim</dc:creator>
  <cp:lastModifiedBy>Altai Ali, Kalmyrza Gulim</cp:lastModifiedBy>
  <cp:revision>1</cp:revision>
  <dcterms:created xsi:type="dcterms:W3CDTF">2026-10-19T20:52:41Z</dcterms:created>
  <dcterms:modified xsi:type="dcterms:W3CDTF">2026-10-19T20:52:41Z</dcterms:modified>
</cp:coreProperties>
</file>